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62" r:id="rId5"/>
    <p:sldId id="259" r:id="rId6"/>
    <p:sldId id="264" r:id="rId7"/>
    <p:sldId id="266" r:id="rId8"/>
    <p:sldId id="267" r:id="rId9"/>
    <p:sldId id="268" r:id="rId10"/>
    <p:sldId id="270" r:id="rId11"/>
    <p:sldId id="280" r:id="rId12"/>
    <p:sldId id="271" r:id="rId13"/>
    <p:sldId id="272" r:id="rId14"/>
    <p:sldId id="273" r:id="rId15"/>
    <p:sldId id="274" r:id="rId16"/>
    <p:sldId id="275" r:id="rId17"/>
    <p:sldId id="276" r:id="rId18"/>
    <p:sldId id="278" r:id="rId19"/>
    <p:sldId id="279" r:id="rId20"/>
    <p:sldId id="277" r:id="rId21"/>
    <p:sldId id="260" r:id="rId22"/>
    <p:sldId id="261" r:id="rId23"/>
    <p:sldId id="298" r:id="rId24"/>
    <p:sldId id="281" r:id="rId25"/>
    <p:sldId id="284" r:id="rId26"/>
    <p:sldId id="300" r:id="rId27"/>
    <p:sldId id="301" r:id="rId28"/>
    <p:sldId id="285" r:id="rId29"/>
    <p:sldId id="286" r:id="rId30"/>
    <p:sldId id="287" r:id="rId31"/>
    <p:sldId id="288" r:id="rId32"/>
    <p:sldId id="289" r:id="rId33"/>
    <p:sldId id="292" r:id="rId34"/>
    <p:sldId id="302" r:id="rId35"/>
    <p:sldId id="303" r:id="rId47"/>
    <p:sldId id="295" r:id="rId36"/>
    <p:sldId id="293" r:id="rId37"/>
    <p:sldId id="294" r:id="rId38"/>
    <p:sldId id="296" r:id="rId39"/>
    <p:sldId id="297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2886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openxmlformats.org/officeDocument/2006/relationships/slide" Target="slides/slide3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אברהם ללום" userId="4ff52d93931b4390" providerId="LiveId" clId="{8397065E-286F-4A54-A613-2924A7710418}"/>
    <pc:docChg chg="custSel modSld">
      <pc:chgData name="אברהם ללום" userId="4ff52d93931b4390" providerId="LiveId" clId="{8397065E-286F-4A54-A613-2924A7710418}" dt="2026-05-11T13:13:10.056" v="3" actId="20577"/>
      <pc:docMkLst>
        <pc:docMk/>
      </pc:docMkLst>
      <pc:sldChg chg="modSp mod">
        <pc:chgData name="אברהם ללום" userId="4ff52d93931b4390" providerId="LiveId" clId="{8397065E-286F-4A54-A613-2924A7710418}" dt="2026-05-11T13:13:10.056" v="3" actId="20577"/>
        <pc:sldMkLst>
          <pc:docMk/>
          <pc:sldMk cId="0" sldId="258"/>
        </pc:sldMkLst>
        <pc:spChg chg="mod">
          <ac:chgData name="אברהם ללום" userId="4ff52d93931b4390" providerId="LiveId" clId="{8397065E-286F-4A54-A613-2924A7710418}" dt="2026-05-11T13:13:10.056" v="3" actId="20577"/>
          <ac:spMkLst>
            <pc:docMk/>
            <pc:sldMk cId="0" sldId="258"/>
            <ac:spMk id="6" creationId="{00000000-0000-0000-0000-000000000000}"/>
          </ac:spMkLst>
        </pc:spChg>
      </pc:sldChg>
      <pc:sldChg chg="delSp modSp mod">
        <pc:chgData name="אברהם ללום" userId="4ff52d93931b4390" providerId="LiveId" clId="{8397065E-286F-4A54-A613-2924A7710418}" dt="2026-05-11T13:12:32.050" v="2" actId="478"/>
        <pc:sldMkLst>
          <pc:docMk/>
          <pc:sldMk cId="0" sldId="298"/>
        </pc:sldMkLst>
        <pc:spChg chg="mod">
          <ac:chgData name="אברהם ללום" userId="4ff52d93931b4390" providerId="LiveId" clId="{8397065E-286F-4A54-A613-2924A7710418}" dt="2026-05-11T13:12:23.504" v="0" actId="1076"/>
          <ac:spMkLst>
            <pc:docMk/>
            <pc:sldMk cId="0" sldId="298"/>
            <ac:spMk id="32" creationId="{00000000-0000-0000-0000-000000000000}"/>
          </ac:spMkLst>
        </pc:spChg>
        <pc:spChg chg="mod">
          <ac:chgData name="אברהם ללום" userId="4ff52d93931b4390" providerId="LiveId" clId="{8397065E-286F-4A54-A613-2924A7710418}" dt="2026-05-11T13:12:27.325" v="1" actId="1076"/>
          <ac:spMkLst>
            <pc:docMk/>
            <pc:sldMk cId="0" sldId="298"/>
            <ac:spMk id="37" creationId="{00000000-0000-0000-0000-000000000000}"/>
          </ac:spMkLst>
        </pc:spChg>
        <pc:spChg chg="del">
          <ac:chgData name="אברהם ללום" userId="4ff52d93931b4390" providerId="LiveId" clId="{8397065E-286F-4A54-A613-2924A7710418}" dt="2026-05-11T13:12:32.050" v="2" actId="478"/>
          <ac:spMkLst>
            <pc:docMk/>
            <pc:sldMk cId="0" sldId="298"/>
            <ac:spMk id="51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Pillars</c:v>
                </c:pt>
              </c:strCache>
            </c:strRef>
          </c:tx>
          <c:dPt>
            <c:idx val="0"/>
            <c:bubble3D val="0"/>
            <c:spPr>
              <a:solidFill>
                <a:srgbClr val="1A2A4F"/>
              </a:solidFill>
              <a:ln w="31750">
                <a:solidFill>
                  <a:srgbClr val="F7F2E8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103F-448D-857F-6EB55F55ACE4}"/>
              </c:ext>
            </c:extLst>
          </c:dPt>
          <c:dPt>
            <c:idx val="1"/>
            <c:bubble3D val="0"/>
            <c:spPr>
              <a:solidFill>
                <a:srgbClr val="C9A14A"/>
              </a:solidFill>
              <a:ln w="31750">
                <a:solidFill>
                  <a:srgbClr val="F7F2E8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103F-448D-857F-6EB55F55ACE4}"/>
              </c:ext>
            </c:extLst>
          </c:dPt>
          <c:dPt>
            <c:idx val="2"/>
            <c:bubble3D val="0"/>
            <c:spPr>
              <a:solidFill>
                <a:srgbClr val="3F4D6B"/>
              </a:solidFill>
              <a:ln w="31750">
                <a:solidFill>
                  <a:srgbClr val="F7F2E8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103F-448D-857F-6EB55F55ACE4}"/>
              </c:ext>
            </c:extLst>
          </c:dPt>
          <c:cat>
            <c:strRef>
              <c:f>Sheet1!$A$2:$A$4</c:f>
              <c:strCache>
                <c:ptCount val="3"/>
                <c:pt idx="0">
                  <c:v>Law</c:v>
                </c:pt>
                <c:pt idx="1">
                  <c:v>Economics</c:v>
                </c:pt>
                <c:pt idx="2">
                  <c:v>Computer Science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03F-448D-857F-6EB55F55ACE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 lang="he-IL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dPt>
            <c:idx val="0"/>
            <c:bubble3D val="0"/>
            <c:spPr>
              <a:solidFill>
                <a:srgbClr val="1A2A4F"/>
              </a:solidFill>
              <a:ln w="25400">
                <a:solidFill>
                  <a:srgbClr val="F7F2E8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2D58-48D2-8AE4-82B4504B1120}"/>
              </c:ext>
            </c:extLst>
          </c:dPt>
          <c:dPt>
            <c:idx val="1"/>
            <c:bubble3D val="0"/>
            <c:spPr>
              <a:solidFill>
                <a:srgbClr val="C9A14A"/>
              </a:solidFill>
              <a:ln w="25400">
                <a:solidFill>
                  <a:srgbClr val="F7F2E8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2D58-48D2-8AE4-82B4504B1120}"/>
              </c:ext>
            </c:extLst>
          </c:dPt>
          <c:dPt>
            <c:idx val="2"/>
            <c:bubble3D val="0"/>
            <c:spPr>
              <a:solidFill>
                <a:srgbClr val="445C88"/>
              </a:solidFill>
              <a:ln w="25400">
                <a:solidFill>
                  <a:srgbClr val="F7F2E8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2D58-48D2-8AE4-82B4504B1120}"/>
              </c:ext>
            </c:extLst>
          </c:dPt>
          <c:dPt>
            <c:idx val="3"/>
            <c:bubble3D val="0"/>
            <c:spPr>
              <a:solidFill>
                <a:srgbClr val="CFC09A"/>
              </a:solidFill>
              <a:ln w="25400">
                <a:solidFill>
                  <a:srgbClr val="F7F2E8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2D58-48D2-8AE4-82B4504B1120}"/>
              </c:ext>
            </c:extLst>
          </c:dPt>
          <c:dPt>
            <c:idx val="4"/>
            <c:bubble3D val="0"/>
            <c:spPr>
              <a:solidFill>
                <a:srgbClr val="B8902F"/>
              </a:solidFill>
              <a:ln w="25400">
                <a:solidFill>
                  <a:srgbClr val="F7F2E8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2D58-48D2-8AE4-82B4504B1120}"/>
              </c:ext>
            </c:extLst>
          </c:dPt>
          <c:dPt>
            <c:idx val="5"/>
            <c:bubble3D val="0"/>
            <c:spPr>
              <a:solidFill>
                <a:srgbClr val="A8B2C8"/>
              </a:solidFill>
              <a:ln w="25400">
                <a:solidFill>
                  <a:srgbClr val="F7F2E8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2D58-48D2-8AE4-82B4504B1120}"/>
              </c:ext>
            </c:extLst>
          </c:dPt>
          <c:dPt>
            <c:idx val="6"/>
            <c:bubble3D val="0"/>
            <c:spPr>
              <a:solidFill>
                <a:srgbClr val="CED3DD"/>
              </a:solidFill>
              <a:ln w="25400">
                <a:solidFill>
                  <a:srgbClr val="F7F2E8"/>
                </a:solidFill>
              </a:ln>
            </c:spPr>
            <c:extLst>
              <c:ext xmlns:c16="http://schemas.microsoft.com/office/drawing/2014/chart" uri="{C3380CC4-5D6E-409C-BE32-E72D297353CC}">
                <c16:uniqueId val="{0000000D-2D58-48D2-8AE4-82B4504B1120}"/>
              </c:ext>
            </c:extLst>
          </c:dPt>
          <c:cat>
            <c:strRef>
              <c:f>Sheet1!$A$2:$A$8</c:f>
              <c:strCache>
                <c:ptCount val="7"/>
                <c:pt idx="0">
                  <c:v>Legal &amp; Regulatory</c:v>
                </c:pt>
                <c:pt idx="1">
                  <c:v>Location Score</c:v>
                </c:pt>
                <c:pt idx="2">
                  <c:v>Market Volatility</c:v>
                </c:pt>
                <c:pt idx="3">
                  <c:v>Additional Project</c:v>
                </c:pt>
                <c:pt idx="4">
                  <c:v>Economic Indicators</c:v>
                </c:pt>
                <c:pt idx="5">
                  <c:v>Environmental Risks</c:v>
                </c:pt>
                <c:pt idx="6">
                  <c:v>Property Condition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25.2</c:v>
                </c:pt>
                <c:pt idx="1">
                  <c:v>22.5</c:v>
                </c:pt>
                <c:pt idx="2">
                  <c:v>18</c:v>
                </c:pt>
                <c:pt idx="3">
                  <c:v>10</c:v>
                </c:pt>
                <c:pt idx="4">
                  <c:v>9.9</c:v>
                </c:pt>
                <c:pt idx="5">
                  <c:v>8.1</c:v>
                </c:pt>
                <c:pt idx="6">
                  <c:v>6.3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2D58-48D2-8AE4-82B4504B1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 lang="he-IL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he-IL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TRS vs IDS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7"/>
            <c:spPr>
              <a:solidFill>
                <a:srgbClr val="C9A14A"/>
              </a:solidFill>
              <a:ln>
                <a:solidFill>
                  <a:srgbClr val="1A2A4F"/>
                </a:solidFill>
              </a:ln>
            </c:spPr>
          </c:marker>
          <c:xVal>
            <c:numRef>
              <c:f>Sheet1!$A$2:$A$51</c:f>
              <c:numCache>
                <c:formatCode>General</c:formatCode>
                <c:ptCount val="50"/>
                <c:pt idx="0">
                  <c:v>0.61</c:v>
                </c:pt>
                <c:pt idx="1">
                  <c:v>0.3</c:v>
                </c:pt>
                <c:pt idx="2">
                  <c:v>0.68</c:v>
                </c:pt>
                <c:pt idx="3">
                  <c:v>0.82</c:v>
                </c:pt>
                <c:pt idx="4">
                  <c:v>1.41</c:v>
                </c:pt>
                <c:pt idx="5">
                  <c:v>1.54</c:v>
                </c:pt>
                <c:pt idx="6">
                  <c:v>1.89</c:v>
                </c:pt>
                <c:pt idx="7">
                  <c:v>1.43</c:v>
                </c:pt>
                <c:pt idx="8">
                  <c:v>1.88</c:v>
                </c:pt>
                <c:pt idx="9">
                  <c:v>1.74</c:v>
                </c:pt>
                <c:pt idx="10">
                  <c:v>2.0699999999999998</c:v>
                </c:pt>
                <c:pt idx="11">
                  <c:v>2.48</c:v>
                </c:pt>
                <c:pt idx="12">
                  <c:v>2.2799999999999998</c:v>
                </c:pt>
                <c:pt idx="13">
                  <c:v>2.6</c:v>
                </c:pt>
                <c:pt idx="14">
                  <c:v>3.14</c:v>
                </c:pt>
                <c:pt idx="15">
                  <c:v>3.24</c:v>
                </c:pt>
                <c:pt idx="16">
                  <c:v>3.16</c:v>
                </c:pt>
                <c:pt idx="17">
                  <c:v>3.63</c:v>
                </c:pt>
                <c:pt idx="18">
                  <c:v>3.99</c:v>
                </c:pt>
                <c:pt idx="19">
                  <c:v>3.53</c:v>
                </c:pt>
                <c:pt idx="20">
                  <c:v>4.34</c:v>
                </c:pt>
                <c:pt idx="21">
                  <c:v>4.4400000000000004</c:v>
                </c:pt>
                <c:pt idx="22">
                  <c:v>4.33</c:v>
                </c:pt>
                <c:pt idx="23">
                  <c:v>4.3600000000000003</c:v>
                </c:pt>
                <c:pt idx="24">
                  <c:v>5.19</c:v>
                </c:pt>
                <c:pt idx="25">
                  <c:v>4.87</c:v>
                </c:pt>
                <c:pt idx="26">
                  <c:v>4.8499999999999996</c:v>
                </c:pt>
                <c:pt idx="27">
                  <c:v>5.04</c:v>
                </c:pt>
                <c:pt idx="28">
                  <c:v>5.82</c:v>
                </c:pt>
                <c:pt idx="29">
                  <c:v>5.8</c:v>
                </c:pt>
                <c:pt idx="30">
                  <c:v>6.15</c:v>
                </c:pt>
                <c:pt idx="31">
                  <c:v>6.26</c:v>
                </c:pt>
                <c:pt idx="32">
                  <c:v>6.29</c:v>
                </c:pt>
                <c:pt idx="33">
                  <c:v>6.82</c:v>
                </c:pt>
                <c:pt idx="34">
                  <c:v>6.52</c:v>
                </c:pt>
                <c:pt idx="35">
                  <c:v>6.84</c:v>
                </c:pt>
                <c:pt idx="36">
                  <c:v>7.24</c:v>
                </c:pt>
                <c:pt idx="37">
                  <c:v>7.25</c:v>
                </c:pt>
                <c:pt idx="38">
                  <c:v>7.63</c:v>
                </c:pt>
                <c:pt idx="39">
                  <c:v>7.58</c:v>
                </c:pt>
                <c:pt idx="40">
                  <c:v>7.86</c:v>
                </c:pt>
                <c:pt idx="41">
                  <c:v>7.52</c:v>
                </c:pt>
                <c:pt idx="42">
                  <c:v>7.84</c:v>
                </c:pt>
                <c:pt idx="43">
                  <c:v>8.07</c:v>
                </c:pt>
                <c:pt idx="44">
                  <c:v>8.08</c:v>
                </c:pt>
                <c:pt idx="45">
                  <c:v>8.39</c:v>
                </c:pt>
                <c:pt idx="46">
                  <c:v>8.4600000000000009</c:v>
                </c:pt>
                <c:pt idx="47">
                  <c:v>8.7799999999999994</c:v>
                </c:pt>
                <c:pt idx="48">
                  <c:v>9.25</c:v>
                </c:pt>
                <c:pt idx="49">
                  <c:v>9.2100000000000009</c:v>
                </c:pt>
              </c:numCache>
            </c:numRef>
          </c:xVal>
          <c:yVal>
            <c:numRef>
              <c:f>Sheet1!$B$2:$B$51</c:f>
              <c:numCache>
                <c:formatCode>General</c:formatCode>
                <c:ptCount val="50"/>
                <c:pt idx="0">
                  <c:v>0.45</c:v>
                </c:pt>
                <c:pt idx="1">
                  <c:v>-0.05</c:v>
                </c:pt>
                <c:pt idx="2">
                  <c:v>0.4</c:v>
                </c:pt>
                <c:pt idx="3">
                  <c:v>1.34</c:v>
                </c:pt>
                <c:pt idx="4">
                  <c:v>1.59</c:v>
                </c:pt>
                <c:pt idx="5">
                  <c:v>1.67</c:v>
                </c:pt>
                <c:pt idx="6">
                  <c:v>1.5</c:v>
                </c:pt>
                <c:pt idx="7">
                  <c:v>1.7</c:v>
                </c:pt>
                <c:pt idx="8">
                  <c:v>1.48</c:v>
                </c:pt>
                <c:pt idx="9">
                  <c:v>1.6</c:v>
                </c:pt>
                <c:pt idx="10">
                  <c:v>2.66</c:v>
                </c:pt>
                <c:pt idx="11">
                  <c:v>2.65</c:v>
                </c:pt>
                <c:pt idx="12">
                  <c:v>2.35</c:v>
                </c:pt>
                <c:pt idx="13">
                  <c:v>2.82</c:v>
                </c:pt>
                <c:pt idx="14">
                  <c:v>3.55</c:v>
                </c:pt>
                <c:pt idx="15">
                  <c:v>3.57</c:v>
                </c:pt>
                <c:pt idx="16">
                  <c:v>2.83</c:v>
                </c:pt>
                <c:pt idx="17">
                  <c:v>3.07</c:v>
                </c:pt>
                <c:pt idx="18">
                  <c:v>3.77</c:v>
                </c:pt>
                <c:pt idx="19">
                  <c:v>3.25</c:v>
                </c:pt>
                <c:pt idx="20">
                  <c:v>3.99</c:v>
                </c:pt>
                <c:pt idx="21">
                  <c:v>4.97</c:v>
                </c:pt>
                <c:pt idx="22">
                  <c:v>4.78</c:v>
                </c:pt>
                <c:pt idx="23">
                  <c:v>4.1399999999999997</c:v>
                </c:pt>
                <c:pt idx="24">
                  <c:v>5.38</c:v>
                </c:pt>
                <c:pt idx="25">
                  <c:v>4.74</c:v>
                </c:pt>
                <c:pt idx="26">
                  <c:v>5.35</c:v>
                </c:pt>
                <c:pt idx="27">
                  <c:v>4.99</c:v>
                </c:pt>
                <c:pt idx="28">
                  <c:v>5.54</c:v>
                </c:pt>
                <c:pt idx="29">
                  <c:v>5.5</c:v>
                </c:pt>
                <c:pt idx="30">
                  <c:v>6.22</c:v>
                </c:pt>
                <c:pt idx="31">
                  <c:v>5.98</c:v>
                </c:pt>
                <c:pt idx="32">
                  <c:v>6.39</c:v>
                </c:pt>
                <c:pt idx="33">
                  <c:v>7.3</c:v>
                </c:pt>
                <c:pt idx="34">
                  <c:v>6.4</c:v>
                </c:pt>
                <c:pt idx="35">
                  <c:v>6.5</c:v>
                </c:pt>
                <c:pt idx="36">
                  <c:v>7.84</c:v>
                </c:pt>
                <c:pt idx="37">
                  <c:v>7.26</c:v>
                </c:pt>
                <c:pt idx="38">
                  <c:v>7.14</c:v>
                </c:pt>
                <c:pt idx="39">
                  <c:v>7.04</c:v>
                </c:pt>
                <c:pt idx="40">
                  <c:v>7.39</c:v>
                </c:pt>
                <c:pt idx="41">
                  <c:v>7.67</c:v>
                </c:pt>
                <c:pt idx="42">
                  <c:v>8.19</c:v>
                </c:pt>
                <c:pt idx="43">
                  <c:v>7.98</c:v>
                </c:pt>
                <c:pt idx="44">
                  <c:v>7.56</c:v>
                </c:pt>
                <c:pt idx="45">
                  <c:v>8.25</c:v>
                </c:pt>
                <c:pt idx="46">
                  <c:v>9.06</c:v>
                </c:pt>
                <c:pt idx="47">
                  <c:v>8.81</c:v>
                </c:pt>
                <c:pt idx="48">
                  <c:v>9.82</c:v>
                </c:pt>
                <c:pt idx="49">
                  <c:v>9.64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E81E-4645-8CCD-2583EF98DC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12"/>
          <c:min val="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E788E"/>
                </a:solidFill>
                <a:latin typeface="Calibri"/>
              </a:defRPr>
            </a:pPr>
            <a:endParaRPr lang="he-IL"/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12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E788E"/>
                </a:solidFill>
                <a:latin typeface="Calibri"/>
              </a:defRPr>
            </a:pPr>
            <a:endParaRPr lang="he-IL"/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R² Score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9A14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3834-40D1-8D3A-A258207D4EBF}"/>
              </c:ext>
            </c:extLst>
          </c:dPt>
          <c:dPt>
            <c:idx val="1"/>
            <c:invertIfNegative val="1"/>
            <c:bubble3D val="0"/>
            <c:spPr>
              <a:solidFill>
                <a:srgbClr val="1A2A4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3834-40D1-8D3A-A258207D4EBF}"/>
              </c:ext>
            </c:extLst>
          </c:dPt>
          <c:dPt>
            <c:idx val="2"/>
            <c:invertIfNegative val="1"/>
            <c:bubble3D val="0"/>
            <c:spPr>
              <a:solidFill>
                <a:srgbClr val="1A2A4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3834-40D1-8D3A-A258207D4EBF}"/>
              </c:ext>
            </c:extLst>
          </c:dPt>
          <c:dPt>
            <c:idx val="3"/>
            <c:invertIfNegative val="1"/>
            <c:bubble3D val="0"/>
            <c:spPr>
              <a:solidFill>
                <a:srgbClr val="1A2A4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3834-40D1-8D3A-A258207D4EBF}"/>
              </c:ext>
            </c:extLst>
          </c:dPt>
          <c:dPt>
            <c:idx val="4"/>
            <c:invertIfNegative val="1"/>
            <c:bubble3D val="0"/>
            <c:spPr>
              <a:solidFill>
                <a:srgbClr val="1A2A4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3834-40D1-8D3A-A258207D4EBF}"/>
              </c:ext>
            </c:extLst>
          </c:dPt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2A4F"/>
                    </a:solidFill>
                    <a:latin typeface="Calibri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HGBRg
(RECIR)</c:v>
                </c:pt>
                <c:pt idx="1">
                  <c:v>XGBoost</c:v>
                </c:pt>
                <c:pt idx="2">
                  <c:v>Random
Forest</c:v>
                </c:pt>
                <c:pt idx="3">
                  <c:v>Lars Reg.</c:v>
                </c:pt>
                <c:pt idx="4">
                  <c:v>Decision
Tree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0.99880000000000002</c:v>
                </c:pt>
                <c:pt idx="1">
                  <c:v>0.98419999999999996</c:v>
                </c:pt>
                <c:pt idx="2">
                  <c:v>0.97560000000000002</c:v>
                </c:pt>
                <c:pt idx="3">
                  <c:v>0.8921</c:v>
                </c:pt>
                <c:pt idx="4">
                  <c:v>0.85429999999999995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3834-40D1-8D3A-A258207D4EB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 b="1">
                <a:solidFill>
                  <a:srgbClr val="1A2A4F"/>
                </a:solidFill>
                <a:latin typeface="Calibri"/>
              </a:defRPr>
            </a:pPr>
            <a:endParaRPr lang="he-IL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.05"/>
          <c:min val="0.8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E788E"/>
                </a:solidFill>
              </a:defRPr>
            </a:pPr>
            <a:endParaRPr lang="he-IL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 (CV)</c:v>
                </c:pt>
              </c:strCache>
            </c:strRef>
          </c:tx>
          <c:spPr>
            <a:ln w="44450">
              <a:solidFill>
                <a:srgbClr val="C9A14A"/>
              </a:solidFill>
            </a:ln>
          </c:spPr>
          <c:marker>
            <c:symbol val="circle"/>
            <c:size val="9"/>
            <c:spPr>
              <a:solidFill>
                <a:srgbClr val="1A2A4F"/>
              </a:solidFill>
              <a:ln>
                <a:solidFill>
                  <a:srgbClr val="1A2A4F"/>
                </a:solidFill>
              </a:ln>
            </c:spPr>
          </c:marker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>
                    <a:solidFill>
                      <a:srgbClr val="1A2A4F"/>
                    </a:solidFill>
                    <a:latin typeface="Calibri"/>
                  </a:defRPr>
                </a:pPr>
                <a:endParaRPr lang="he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
(COVID)</c:v>
                </c:pt>
                <c:pt idx="6">
                  <c:v>2021</c:v>
                </c:pt>
                <c:pt idx="7">
                  <c:v>2022</c:v>
                </c:pt>
                <c:pt idx="8">
                  <c:v>2023
(Holdout)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0.99850000000000005</c:v>
                </c:pt>
                <c:pt idx="1">
                  <c:v>0.99880000000000002</c:v>
                </c:pt>
                <c:pt idx="2">
                  <c:v>0.99890000000000001</c:v>
                </c:pt>
                <c:pt idx="3">
                  <c:v>0.99880000000000002</c:v>
                </c:pt>
                <c:pt idx="4">
                  <c:v>0.99870000000000003</c:v>
                </c:pt>
                <c:pt idx="5">
                  <c:v>0.99739999999999995</c:v>
                </c:pt>
                <c:pt idx="6">
                  <c:v>0.99809999999999999</c:v>
                </c:pt>
                <c:pt idx="7">
                  <c:v>0.99860000000000004</c:v>
                </c:pt>
                <c:pt idx="8">
                  <c:v>0.999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808-4BF5-9485-0AF4C930AC4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 b="1">
                <a:solidFill>
                  <a:srgbClr val="1A2A4F"/>
                </a:solidFill>
                <a:latin typeface="Calibri"/>
              </a:defRPr>
            </a:pPr>
            <a:endParaRPr lang="he-IL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.0004999999999999"/>
          <c:min val="0.996"/>
        </c:scaling>
        <c:delete val="0"/>
        <c:axPos val="l"/>
        <c:majorGridlines/>
        <c:numFmt formatCode="0.000" sourceLinked="0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E788E"/>
                </a:solidFill>
              </a:defRPr>
            </a:pPr>
            <a:endParaRPr lang="he-IL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3F202E4C-8911-4618-A962-2E2D7556ECFA}" type="datetimeFigureOut">
              <a:rPr lang="he-IL" smtClean="0"/>
              <a:t>כ"ד/אייר/תשפ"ו</a:t>
            </a:fld>
            <a:endParaRPr lang="he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F6AE564F-C410-4C8D-8B37-7CD580C4135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073086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dissertation is fundamentally a Law and Economics question. Not merely a machine-learning exercise.
The objective was not to maximize prediction accuracy alone. The objective was to investigate whether AI systems can support legally admissible and explainable decision-making in high-risk economic environments.
Specifically: Can a transparent, regulation-aware AI framework quantify real-estate risk more effectively than traditional approaches while remaining auditable and explainable?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6E788E"/>
                </a:solidFill>
                <a:latin typeface="Calibri"/>
              </a:rPr>
              <a:t>UNIVERSIDAD DE CÓRDOBA  ·  FACULTAD DE DERECHO Y CIENCIAS ECONÓMICAS Y EMPRESARIALES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A2A4F"/>
                </a:solidFill>
                <a:latin typeface="Calibri"/>
              </a:rPr>
              <a:t>1 / 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280160"/>
            <a:ext cx="12191695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6E788E"/>
                </a:solidFill>
                <a:latin typeface="Calibri"/>
              </a:rPr>
              <a:t>—  DOCTORAL THESIS  ·  LAW &amp; ECONOMICS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874519"/>
            <a:ext cx="11640312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1A2A4F"/>
                </a:solidFill>
                <a:latin typeface="Georgia"/>
              </a:rPr>
              <a:t>Risk Management in Real Estate Transactions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11091672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C9A14A"/>
                </a:solidFill>
                <a:latin typeface="Georgia"/>
              </a:rPr>
              <a:t>A Law &amp; Economics Framework for Explainable, Regulation-Aligned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1080366" y="3520440"/>
            <a:ext cx="1874519" cy="457200"/>
          </a:xfrm>
          <a:prstGeom prst="rect">
            <a:avLst/>
          </a:prstGeom>
          <a:solidFill>
            <a:srgbClr val="F7F2E8"/>
          </a:solidFill>
          <a:ln w="15875">
            <a:solidFill>
              <a:srgbClr val="1A2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80366" y="3520440"/>
            <a:ext cx="1874519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2A4F"/>
                </a:solidFill>
                <a:latin typeface="Calibri"/>
              </a:rPr>
              <a:t>RECIR FRAMEWORK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19477" y="3520440"/>
            <a:ext cx="1874519" cy="457200"/>
          </a:xfrm>
          <a:prstGeom prst="rect">
            <a:avLst/>
          </a:prstGeom>
          <a:solidFill>
            <a:srgbClr val="F7F2E8"/>
          </a:solidFill>
          <a:ln w="15875">
            <a:solidFill>
              <a:srgbClr val="1A2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9477" y="3520440"/>
            <a:ext cx="1874519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2A4F"/>
                </a:solidFill>
                <a:latin typeface="Calibri"/>
              </a:rPr>
              <a:t>SRME ENGINE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8588" y="3520440"/>
            <a:ext cx="1874519" cy="457200"/>
          </a:xfrm>
          <a:prstGeom prst="rect">
            <a:avLst/>
          </a:prstGeom>
          <a:solidFill>
            <a:srgbClr val="F7F2E8"/>
          </a:solidFill>
          <a:ln w="15875">
            <a:solidFill>
              <a:srgbClr val="1A2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58588" y="3520440"/>
            <a:ext cx="1874519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2A4F"/>
                </a:solidFill>
                <a:latin typeface="Calibri"/>
              </a:rPr>
              <a:t>EU AI ACT COMPLIANT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97699" y="3520440"/>
            <a:ext cx="1874519" cy="457200"/>
          </a:xfrm>
          <a:prstGeom prst="rect">
            <a:avLst/>
          </a:prstGeom>
          <a:solidFill>
            <a:srgbClr val="F7F2E8"/>
          </a:solidFill>
          <a:ln w="15875">
            <a:solidFill>
              <a:srgbClr val="1A2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97699" y="3520440"/>
            <a:ext cx="1874519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2A4F"/>
                </a:solidFill>
                <a:latin typeface="Calibri"/>
              </a:rPr>
              <a:t>XAI CERTIFIED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6810" y="3520440"/>
            <a:ext cx="1874519" cy="457200"/>
          </a:xfrm>
          <a:prstGeom prst="rect">
            <a:avLst/>
          </a:prstGeom>
          <a:solidFill>
            <a:srgbClr val="F7F2E8"/>
          </a:solidFill>
          <a:ln w="15875">
            <a:solidFill>
              <a:srgbClr val="1A2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36810" y="3520440"/>
            <a:ext cx="1874519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2A4F"/>
                </a:solidFill>
                <a:latin typeface="Calibri"/>
              </a:rPr>
              <a:t>JCR Q1 PUBLISHED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5120640"/>
            <a:ext cx="11091672" cy="0"/>
          </a:xfrm>
          <a:prstGeom prst="line">
            <a:avLst/>
          </a:prstGeom>
          <a:ln w="9525">
            <a:solidFill>
              <a:srgbClr val="D9CF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5257800"/>
            <a:ext cx="365760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6E788E"/>
                </a:solidFill>
                <a:latin typeface="Calibri"/>
              </a:rPr>
              <a:t>CANDIDATE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577840"/>
            <a:ext cx="36576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A2A4F"/>
                </a:solidFill>
                <a:latin typeface="Georgia"/>
              </a:rPr>
              <a:t>Avraham Lalum, Ph.D.c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943600"/>
            <a:ext cx="365760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E788E"/>
                </a:solidFill>
                <a:latin typeface="Calibri"/>
              </a:rPr>
              <a:t>avraham@lalum.co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5257800"/>
            <a:ext cx="402336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6E788E"/>
                </a:solidFill>
                <a:latin typeface="Calibri"/>
              </a:rPr>
              <a:t>SUPERVISORS  &amp;  COMMITTEE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5559552"/>
            <a:ext cx="402336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Prof. Nuria Ceular Villamandos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5824728"/>
            <a:ext cx="402336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Prof. Lorena Caridad López del Río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5257800"/>
            <a:ext cx="310896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6E788E"/>
                </a:solidFill>
                <a:latin typeface="Calibri"/>
              </a:rPr>
              <a:t>DEFENSE DATE &amp; VENUE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5577840"/>
            <a:ext cx="36576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A2A4F"/>
                </a:solidFill>
                <a:latin typeface="Georgia"/>
              </a:rPr>
              <a:t>27 May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5943600"/>
            <a:ext cx="365760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E788E"/>
                </a:solidFill>
                <a:latin typeface="Calibri"/>
              </a:rPr>
              <a:t>Córdoba, España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A2A4F"/>
                </a:solidFill>
                <a:latin typeface="Calibri"/>
              </a:rPr>
              <a:t>2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1  ·  OPENING  ·  CENTRAL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The Central Research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8686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r>
              <a:rPr sz="1700" i="1">
                <a:solidFill>
                  <a:srgbClr val="3F4D6B"/>
                </a:solidFill>
                <a:latin typeface="Georgia"/>
              </a:rPr>
              <a:t>A Law &amp; Economics question — not an engineering problem.</a:t>
            </a:r>
          </a:p>
          <a:p>
            <a:pPr>
              <a:lnSpc>
                <a:spcPct val="120000"/>
              </a:lnSpc>
            </a:pPr>
            <a:r>
              <a:rPr sz="1300" i="1">
                <a:solidFill>
                  <a:srgbClr val="3F4D6B"/>
                </a:solidFill>
                <a:latin typeface="Georgia"/>
              </a:rPr>
              <a:t>The objective: legally admissible and explainable decision-making in high-risk economic environments.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91440" cy="114300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11000232" cy="1143000"/>
          </a:xfrm>
          <a:prstGeom prst="rect">
            <a:avLst/>
          </a:prstGeom>
          <a:solidFill>
            <a:srgbClr val="F1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10607040" cy="11430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1">
                <a:solidFill>
                  <a:srgbClr val="1A2A4F"/>
                </a:solidFill>
                <a:latin typeface="Georgia"/>
              </a:rPr>
              <a:t>“ Can a transparent, regulation-aware AI framework quantify real-estate risk with higher fidelity than traditional models — while remaining auditable, explainable, and legally admissible? ”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48640" y="3337560"/>
          <a:ext cx="40233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4297680"/>
            <a:ext cx="4023360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1A2A4F"/>
                </a:solidFill>
                <a:latin typeface="Georgia"/>
              </a:rPr>
              <a:t>RECIR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54880"/>
            <a:ext cx="40233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6E788E"/>
                </a:solidFill>
                <a:latin typeface="Calibri"/>
              </a:rPr>
              <a:t>Three Pillars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217920"/>
            <a:ext cx="182880" cy="18288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6172200"/>
            <a:ext cx="109728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Law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72640" y="6217920"/>
            <a:ext cx="182880" cy="18288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01240" y="6172200"/>
            <a:ext cx="109728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Economics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13760" y="6217920"/>
            <a:ext cx="182880" cy="182880"/>
          </a:xfrm>
          <a:prstGeom prst="rect">
            <a:avLst/>
          </a:prstGeom>
          <a:solidFill>
            <a:srgbClr val="3F4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42360" y="6172200"/>
            <a:ext cx="109728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Comp. Sci.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3337560"/>
            <a:ext cx="73152" cy="109728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919472" y="3337560"/>
            <a:ext cx="6784848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74920" y="3429000"/>
            <a:ext cx="64922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A4F"/>
                </a:solidFill>
                <a:latin typeface="Calibri"/>
              </a:rPr>
              <a:t>LAW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3703320"/>
            <a:ext cx="649224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EU AI Act · Art. 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4050792"/>
            <a:ext cx="6492240" cy="320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3F4D6B"/>
                </a:solidFill>
                <a:latin typeface="Calibri"/>
              </a:rPr>
              <a:t>Transparency &amp; governance — high-risk AI obligations.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46320" y="4526280"/>
            <a:ext cx="73152" cy="109728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919472" y="4526280"/>
            <a:ext cx="6784848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74920" y="4617720"/>
            <a:ext cx="64922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14A"/>
                </a:solidFill>
                <a:latin typeface="Calibri"/>
              </a:rPr>
              <a:t>ECONOMICS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4920" y="4892040"/>
            <a:ext cx="649224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318,240 records · 9 years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4920" y="5239512"/>
            <a:ext cx="6492240" cy="320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3F4D6B"/>
                </a:solidFill>
                <a:latin typeface="Calibri"/>
              </a:rPr>
              <a:t>Empirical panel data — full economic cycles incl. COVID-19.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5715000"/>
            <a:ext cx="73152" cy="1097280"/>
          </a:xfrm>
          <a:prstGeom prst="rect">
            <a:avLst/>
          </a:prstGeom>
          <a:solidFill>
            <a:srgbClr val="3F4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919472" y="5715000"/>
            <a:ext cx="6784848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74920" y="5806440"/>
            <a:ext cx="64922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F4D6B"/>
                </a:solidFill>
                <a:latin typeface="Calibri"/>
              </a:rPr>
              <a:t>COMPUTER SCIENCE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4920" y="6080760"/>
            <a:ext cx="649224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Explainable ML  ·  SHAP  ·  PDP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6428232"/>
            <a:ext cx="6492240" cy="320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3F4D6B"/>
                </a:solidFill>
                <a:latin typeface="Calibri"/>
              </a:rPr>
              <a:t>Predictions auditable, weights traceable.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A2A4F"/>
                </a:solidFill>
                <a:latin typeface="Calibri"/>
              </a:rPr>
              <a:t>3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1  ·  INTRODUCTION  ·  DATA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517065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>
                <a:solidFill>
                  <a:srgbClr val="1A2A4F"/>
                </a:solidFill>
                <a:latin typeface="Georgia"/>
              </a:rPr>
              <a:t>Empirical 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From three raw sources to a single validated framework — five-stage filtering pipeline.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5120640" cy="640080"/>
          </a:xfrm>
          <a:prstGeom prst="rect">
            <a:avLst/>
          </a:prstGeom>
          <a:solidFill>
            <a:srgbClr val="E6D9B8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512064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01  RAW INPUTS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40864"/>
            <a:ext cx="51206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A2A4F"/>
                </a:solidFill>
                <a:latin typeface="Calibri"/>
              </a:rPr>
              <a:t>3 sources · 198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176272"/>
            <a:ext cx="100584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C9A14A"/>
                </a:solidFill>
                <a:latin typeface="Georgia"/>
              </a:rPr>
              <a:t>198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9498" y="2697480"/>
            <a:ext cx="4198924" cy="640080"/>
          </a:xfrm>
          <a:prstGeom prst="rect">
            <a:avLst/>
          </a:prstGeom>
          <a:solidFill>
            <a:srgbClr val="E6C97A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9498" y="2743200"/>
            <a:ext cx="4198924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02  VIF FILTER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498" y="3026664"/>
            <a:ext cx="4198924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A2A4F"/>
                </a:solidFill>
                <a:latin typeface="Calibri"/>
              </a:rPr>
              <a:t>multicollinearity removed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2862072"/>
            <a:ext cx="100584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C9A14A"/>
                </a:solidFill>
                <a:latin typeface="Georgia"/>
              </a:rPr>
              <a:t>~140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9149" y="3383280"/>
            <a:ext cx="3379622" cy="640080"/>
          </a:xfrm>
          <a:prstGeom prst="rect">
            <a:avLst/>
          </a:prstGeom>
          <a:solidFill>
            <a:srgbClr val="C9A14A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419149" y="3429000"/>
            <a:ext cx="3379622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03  RFE-CV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9149" y="3712464"/>
            <a:ext cx="3379622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A2A4F"/>
                </a:solidFill>
                <a:latin typeface="Calibri"/>
              </a:rPr>
              <a:t>90 optimized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547872"/>
            <a:ext cx="100584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C9A14A"/>
                </a:solidFill>
                <a:latin typeface="Georgia"/>
              </a:rPr>
              <a:t>90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0" y="4069080"/>
            <a:ext cx="2560320" cy="640080"/>
          </a:xfrm>
          <a:prstGeom prst="rect">
            <a:avLst/>
          </a:prstGeom>
          <a:solidFill>
            <a:srgbClr val="4A5575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828800" y="4114800"/>
            <a:ext cx="256032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Georgia"/>
              </a:rPr>
              <a:t>04  HGBRg + XAI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398264"/>
            <a:ext cx="256032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Ensemble · SHAP · Permutation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4233672"/>
            <a:ext cx="100584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C9A14A"/>
                </a:solidFill>
                <a:latin typeface="Georgia"/>
              </a:rPr>
              <a:t>7 idx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87245" y="4754880"/>
            <a:ext cx="1843430" cy="640080"/>
          </a:xfrm>
          <a:prstGeom prst="rect">
            <a:avLst/>
          </a:prstGeom>
          <a:solidFill>
            <a:srgbClr val="1A2A4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187245" y="4800600"/>
            <a:ext cx="184343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Georgia"/>
              </a:rPr>
              <a:t>★  RECIR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87245" y="5084064"/>
            <a:ext cx="184343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Validated · auditable · compliant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06440" y="4919472"/>
            <a:ext cx="100584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C9A14A"/>
                </a:solidFill>
                <a:latin typeface="Georgia"/>
              </a:rPr>
              <a:t>0.9988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40880" y="2011680"/>
            <a:ext cx="45720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32320" y="2194560"/>
            <a:ext cx="41148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14A"/>
                </a:solidFill>
                <a:latin typeface="Georgia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2084832"/>
            <a:ext cx="274320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F"/>
                </a:solidFill>
                <a:latin typeface="Georgia"/>
              </a:rPr>
              <a:t>Raw Sources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2377440"/>
            <a:ext cx="274320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3F4D6B"/>
                </a:solidFill>
                <a:latin typeface="Calibri"/>
              </a:rPr>
              <a:t>AHS · WDI · Delphi expert (N=11)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2194560"/>
            <a:ext cx="118872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C9A14A"/>
                </a:solidFill>
                <a:latin typeface="Georgia"/>
              </a:rPr>
              <a:t>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40880" y="2770632"/>
            <a:ext cx="45720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132320" y="2953512"/>
            <a:ext cx="41148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14A"/>
                </a:solidFill>
                <a:latin typeface="Georgia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2843784"/>
            <a:ext cx="274320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F"/>
                </a:solidFill>
                <a:latin typeface="Georgia"/>
              </a:rPr>
              <a:t>VIF Filter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9520" y="3136392"/>
            <a:ext cx="274320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3F4D6B"/>
                </a:solidFill>
                <a:latin typeface="Calibri"/>
              </a:rPr>
              <a:t>Multicollinearity removed · VIF &lt;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2953512"/>
            <a:ext cx="118872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C9A14A"/>
                </a:solidFill>
                <a:latin typeface="Georgia"/>
              </a:rPr>
              <a:t>~140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3529584"/>
            <a:ext cx="45720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132320" y="3712464"/>
            <a:ext cx="41148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14A"/>
                </a:solidFill>
                <a:latin typeface="Georgia"/>
              </a:rPr>
              <a:t>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20" y="3602736"/>
            <a:ext cx="274320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F"/>
                </a:solidFill>
                <a:latin typeface="Georgia"/>
              </a:rPr>
              <a:t>RFE-CV Selection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3895344"/>
            <a:ext cx="274320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3F4D6B"/>
                </a:solidFill>
                <a:latin typeface="Calibri"/>
              </a:rPr>
              <a:t>Recursive elimination of features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712464"/>
            <a:ext cx="118872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C9A14A"/>
                </a:solidFill>
                <a:latin typeface="Georgia"/>
              </a:rPr>
              <a:t>90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40880" y="4288536"/>
            <a:ext cx="45720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132320" y="4471416"/>
            <a:ext cx="41148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14A"/>
                </a:solidFill>
                <a:latin typeface="Georgia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4361688"/>
            <a:ext cx="274320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A4F"/>
                </a:solidFill>
                <a:latin typeface="Georgia"/>
              </a:rPr>
              <a:t>HGBRg + XAI Engine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9520" y="4654296"/>
            <a:ext cx="274320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3F4D6B"/>
                </a:solidFill>
                <a:latin typeface="Calibri"/>
              </a:rPr>
              <a:t>Ensemble · SHAP · PDP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32720" y="4471416"/>
            <a:ext cx="118872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C9A14A"/>
                </a:solidFill>
                <a:latin typeface="Georgia"/>
              </a:rPr>
              <a:t>7 idx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40880" y="5047488"/>
            <a:ext cx="4572000" cy="713232"/>
          </a:xfrm>
          <a:prstGeom prst="rect">
            <a:avLst/>
          </a:prstGeom>
          <a:solidFill>
            <a:srgbClr val="1A2A4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132320" y="5230368"/>
            <a:ext cx="41148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14A"/>
                </a:solidFill>
                <a:latin typeface="Georgia"/>
              </a:rPr>
              <a:t>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89520" y="5120640"/>
            <a:ext cx="274320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</a:rPr>
              <a:t>RECIR Framework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5413248"/>
            <a:ext cx="274320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6C97A"/>
                </a:solidFill>
                <a:latin typeface="Calibri"/>
              </a:rPr>
              <a:t>Validated · auditable · compliant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5230368"/>
            <a:ext cx="118872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C9A14A"/>
                </a:solidFill>
                <a:latin typeface="Georgia"/>
              </a:rPr>
              <a:t>0.9988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5943600"/>
            <a:ext cx="2697480" cy="7772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48640" y="6016752"/>
            <a:ext cx="269748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9A14A"/>
                </a:solidFill>
                <a:latin typeface="Georgia"/>
              </a:rPr>
              <a:t>318,240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400800"/>
            <a:ext cx="269748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PROPERTY RECORDS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364992" y="5943600"/>
            <a:ext cx="2697480" cy="7772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364992" y="6016752"/>
            <a:ext cx="269748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9A14A"/>
                </a:solidFill>
                <a:latin typeface="Georgia"/>
              </a:rPr>
              <a:t>9 Years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64992" y="6400800"/>
            <a:ext cx="269748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PANEL 2015–2023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81344" y="5943600"/>
            <a:ext cx="2697480" cy="7772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181344" y="6016752"/>
            <a:ext cx="269748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9A14A"/>
                </a:solidFill>
                <a:latin typeface="Georgia"/>
              </a:rPr>
              <a:t>N = 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81344" y="6400800"/>
            <a:ext cx="269748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SENIOR EXPERTS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97696" y="5943600"/>
            <a:ext cx="2697480" cy="7772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997696" y="6016752"/>
            <a:ext cx="269748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9A14A"/>
                </a:solidFill>
                <a:latin typeface="Georgia"/>
              </a:rPr>
              <a:t>κ = 0.82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97696" y="6400800"/>
            <a:ext cx="269748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SUBSTANTIAL AGREEMENT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A2A4F"/>
                </a:solidFill>
                <a:latin typeface="Calibri"/>
              </a:rPr>
              <a:t>4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2  ·  LITERATURE  ·  STATE OF THE 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Literature Review — 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Every existing paradigm has a critical, disqualifying flaw. RECIR bridges the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365760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3657600" cy="73152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130552"/>
            <a:ext cx="32004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03A2E"/>
                </a:solidFill>
                <a:latin typeface="Calibri"/>
              </a:rPr>
              <a:t>PARADIGM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320040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Hedonic Regression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17520"/>
            <a:ext cx="27432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3A2E"/>
                </a:solidFill>
                <a:latin typeface="Calibri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017520"/>
            <a:ext cx="288036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Linear assumptions — cannot capture non-linear dynamics.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94760"/>
            <a:ext cx="27432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3A2E"/>
                </a:solidFill>
                <a:latin typeface="Calibri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94760"/>
            <a:ext cx="288036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Ignores regulatory shocks and legislative shifts.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72000"/>
            <a:ext cx="27432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3A2E"/>
                </a:solidFill>
                <a:latin typeface="Calibri"/>
              </a:rPr>
              <a:t>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572000"/>
            <a:ext cx="288036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Retrospective — no forward-looking risk quantification.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5112" y="1965960"/>
            <a:ext cx="365760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25112" y="1965960"/>
            <a:ext cx="3657600" cy="73152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53712" y="2130552"/>
            <a:ext cx="32004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03A2E"/>
                </a:solidFill>
                <a:latin typeface="Calibri"/>
              </a:rPr>
              <a:t>PARADIGM 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2423160"/>
            <a:ext cx="320040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Deep Learning Black Box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3017520"/>
            <a:ext cx="27432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3A2E"/>
                </a:solidFill>
                <a:latin typeface="Calibri"/>
              </a:rP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3017520"/>
            <a:ext cx="288036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High accuracy — but legally misaligned.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794760"/>
            <a:ext cx="27432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3A2E"/>
                </a:solidFill>
                <a:latin typeface="Calibri"/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3752" y="3794760"/>
            <a:ext cx="288036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No feature-level interpretability for experts.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53712" y="4572000"/>
            <a:ext cx="27432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3A2E"/>
                </a:solidFill>
                <a:latin typeface="Calibri"/>
              </a:rPr>
              <a:t>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73752" y="4572000"/>
            <a:ext cx="288036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Fails EU AI Act transparency requirements.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01584" y="1965960"/>
            <a:ext cx="365760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01584" y="1965960"/>
            <a:ext cx="3657600" cy="73152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30184" y="2130552"/>
            <a:ext cx="32004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03A2E"/>
                </a:solidFill>
                <a:latin typeface="Calibri"/>
              </a:rPr>
              <a:t>PARADIGM 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0184" y="2423160"/>
            <a:ext cx="320040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The Missing 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0184" y="3017520"/>
            <a:ext cx="27432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3A2E"/>
                </a:solidFill>
                <a:latin typeface="Calibri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4" y="3017520"/>
            <a:ext cx="288036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No prior framework integrates Law + Economics + XAI.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0184" y="3794760"/>
            <a:ext cx="27432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3A2E"/>
                </a:solidFill>
                <a:latin typeface="Calibri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50224" y="3794760"/>
            <a:ext cx="288036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Real-estate AI remains siloed between disciplines.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0184" y="4572000"/>
            <a:ext cx="27432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03A2E"/>
                </a:solidFill>
                <a:latin typeface="Calibri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50224" y="4572000"/>
            <a:ext cx="288036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Physical verification rarely integrated.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852160"/>
            <a:ext cx="11091672" cy="86868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FFFFFF"/>
                </a:solidFill>
                <a:latin typeface="Georgia"/>
              </a:rPr>
              <a:t>"The industry requires AI that is simultaneously accurate, explainable, and legally defensible. No prior framework jointly addresses all three."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11091672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THESIS  ·  LITERATURE REVIEW CHAPTER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A2A4F"/>
                </a:solidFill>
                <a:latin typeface="Calibri"/>
              </a:rPr>
              <a:t>5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r>
              <a:rPr sz="1300" b="1">
                <a:solidFill>
                  <a:srgbClr val="C9A14A"/>
                </a:solidFill>
                <a:latin typeface="Calibri"/>
              </a:rPr>
              <a:t>PART 2  ·  LITERATURE  ·  MOTIVATION &amp;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Motivation &amp; Theoretical Contribution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From the Black Box to the Glass Box — opening AI to legal scrutiny.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4937760" cy="4023360"/>
          </a:xfrm>
          <a:prstGeom prst="rect">
            <a:avLst/>
          </a:prstGeom>
          <a:solidFill>
            <a:srgbClr val="0F1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4937760" cy="320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E6C97A"/>
                </a:solidFill>
                <a:latin typeface="Calibri"/>
              </a:rPr>
              <a:t>TRADITIONAL 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4937760" cy="5486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Black Box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486400"/>
            <a:ext cx="4937760" cy="50292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5486400"/>
            <a:ext cx="493776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  MISALIGNED WITH EU AI ACT ART. 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3520440"/>
            <a:ext cx="109728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 i="0">
                <a:solidFill>
                  <a:srgbClr val="C9A14A"/>
                </a:solidFill>
                <a:latin typeface="Georgia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4023360"/>
            <a:ext cx="1097280" cy="9144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RECIR
OPENS
IT 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1965960"/>
            <a:ext cx="493776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0" y="2130552"/>
            <a:ext cx="4937760" cy="320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RECIR FRAMEWORK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468880"/>
            <a:ext cx="4937760" cy="5486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The Glass Box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75120" y="5486400"/>
            <a:ext cx="4937760" cy="502920"/>
          </a:xfrm>
          <a:prstGeom prst="rect">
            <a:avLst/>
          </a:prstGeom>
          <a:solidFill>
            <a:srgbClr val="2E7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675120" y="5486400"/>
            <a:ext cx="493776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✓  TRANSPARENT  ·  AUDITABLE  ·  EXPLAINABLE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263640"/>
            <a:ext cx="11091672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r>
              <a:rPr sz="1500" b="1" i="1">
                <a:solidFill>
                  <a:srgbClr val="C9A14A"/>
                </a:solidFill>
                <a:latin typeface="Georgia"/>
              </a:rPr>
              <a:t>RECIR — an integrated framework combining Law, Economics, and Explainable AI.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675120" y="5486400"/>
            <a:ext cx="493776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 i="0">
                <a:solidFill>
                  <a:srgbClr val="C9A14A"/>
                </a:solidFill>
                <a:latin typeface="Calibri"/>
              </a:rPr>
              <a:t>▲  ALL LAYERS DOCUMENTED  ·  DECISIONS TRACEABLE  ▲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8640" y="3108960"/>
            <a:ext cx="4937760" cy="2240280"/>
          </a:xfrm>
          <a:prstGeom prst="rect">
            <a:avLst/>
          </a:prstGeom>
          <a:solidFill>
            <a:srgbClr val="0F1B35"/>
          </a:solidFill>
          <a:ln w="31750">
            <a:solidFill>
              <a:srgbClr val="2A3D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731520" y="3200400"/>
            <a:ext cx="91440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E6C97A"/>
                </a:solidFill>
                <a:latin typeface="Calibri"/>
              </a:rPr>
              <a:t>INPUT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77240" y="3520440"/>
            <a:ext cx="502920" cy="256032"/>
          </a:xfrm>
          <a:prstGeom prst="roundRect">
            <a:avLst/>
          </a:prstGeom>
          <a:solidFill>
            <a:srgbClr val="2A3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777240" y="3520440"/>
            <a:ext cx="502920" cy="2560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E6C97A"/>
                </a:solidFill>
                <a:latin typeface="Calibri"/>
              </a:rPr>
              <a:t>▦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280160" y="3648456"/>
            <a:ext cx="594360" cy="0"/>
          </a:xfrm>
          <a:prstGeom prst="line">
            <a:avLst/>
          </a:prstGeom>
          <a:ln w="19050">
            <a:solidFill>
              <a:srgbClr val="2A3D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ounded Rectangle 80"/>
          <p:cNvSpPr/>
          <p:nvPr/>
        </p:nvSpPr>
        <p:spPr>
          <a:xfrm>
            <a:off x="777240" y="3931920"/>
            <a:ext cx="502920" cy="256032"/>
          </a:xfrm>
          <a:prstGeom prst="roundRect">
            <a:avLst/>
          </a:prstGeom>
          <a:solidFill>
            <a:srgbClr val="2A3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777240" y="3931920"/>
            <a:ext cx="502920" cy="2560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E6C97A"/>
                </a:solidFill>
                <a:latin typeface="Calibri"/>
              </a:rPr>
              <a:t>▦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1280160" y="4059936"/>
            <a:ext cx="594360" cy="0"/>
          </a:xfrm>
          <a:prstGeom prst="line">
            <a:avLst/>
          </a:prstGeom>
          <a:ln w="19050">
            <a:solidFill>
              <a:srgbClr val="2A3D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777240" y="4343400"/>
            <a:ext cx="502920" cy="256032"/>
          </a:xfrm>
          <a:prstGeom prst="roundRect">
            <a:avLst/>
          </a:prstGeom>
          <a:solidFill>
            <a:srgbClr val="2A3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777240" y="4343400"/>
            <a:ext cx="502920" cy="2560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E6C97A"/>
                </a:solidFill>
                <a:latin typeface="Calibri"/>
              </a:rPr>
              <a:t>▦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280160" y="4471416"/>
            <a:ext cx="594360" cy="0"/>
          </a:xfrm>
          <a:prstGeom prst="line">
            <a:avLst/>
          </a:prstGeom>
          <a:ln w="19050">
            <a:solidFill>
              <a:srgbClr val="2A3D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1965960" y="3474720"/>
            <a:ext cx="2103120" cy="1508760"/>
          </a:xfrm>
          <a:prstGeom prst="rect">
            <a:avLst/>
          </a:prstGeom>
          <a:solidFill>
            <a:srgbClr val="1A2A4F"/>
          </a:solidFill>
          <a:ln w="25400">
            <a:solidFill>
              <a:srgbClr val="7A2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389120" y="3200400"/>
            <a:ext cx="91440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1" i="0">
                <a:solidFill>
                  <a:srgbClr val="E6C97A"/>
                </a:solidFill>
                <a:latin typeface="Calibri"/>
              </a:rPr>
              <a:t>OUTPUT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560" y="3886200"/>
            <a:ext cx="777240" cy="685800"/>
          </a:xfrm>
          <a:prstGeom prst="rect">
            <a:avLst/>
          </a:prstGeom>
          <a:solidFill>
            <a:srgbClr val="2A3D5F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4480560" y="3931920"/>
            <a:ext cx="777240" cy="16459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1" i="0">
                <a:solidFill>
                  <a:srgbClr val="E6C97A"/>
                </a:solidFill>
                <a:latin typeface="Calibri"/>
              </a:rPr>
              <a:t>SCORE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480560" y="4087368"/>
            <a:ext cx="7772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0.87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480560" y="4370832"/>
            <a:ext cx="777240" cy="16459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 i="1">
                <a:solidFill>
                  <a:srgbClr val="B03A2E"/>
                </a:solidFill>
                <a:latin typeface="Calibri"/>
              </a:rPr>
              <a:t>no proof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31520" y="5093208"/>
            <a:ext cx="457200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1">
                <a:solidFill>
                  <a:srgbClr val="E6C97A"/>
                </a:solidFill>
                <a:latin typeface="Calibri"/>
              </a:rPr>
              <a:t>Decision logic: not exposed.   ·   Audit? Not Supported.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675120" y="3108960"/>
            <a:ext cx="4937760" cy="2240280"/>
          </a:xfrm>
          <a:prstGeom prst="rect">
            <a:avLst/>
          </a:prstGeom>
          <a:solidFill>
            <a:srgbClr val="FFFFFF"/>
          </a:solidFill>
          <a:ln w="31750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858000" y="3200400"/>
            <a:ext cx="91440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C9A14A"/>
                </a:solidFill>
                <a:latin typeface="Calibri"/>
              </a:rPr>
              <a:t>INPUT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903720" y="3520440"/>
            <a:ext cx="502920" cy="256032"/>
          </a:xfrm>
          <a:prstGeom prst="roundRect">
            <a:avLst/>
          </a:prstGeom>
          <a:solidFill>
            <a:srgbClr val="E6C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6903720" y="3520440"/>
            <a:ext cx="502920" cy="2560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▦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7406640" y="3648456"/>
            <a:ext cx="548640" cy="0"/>
          </a:xfrm>
          <a:prstGeom prst="line">
            <a:avLst/>
          </a:prstGeom>
          <a:ln w="19050">
            <a:solidFill>
              <a:srgbClr val="C9A1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6903720" y="3931920"/>
            <a:ext cx="502920" cy="256032"/>
          </a:xfrm>
          <a:prstGeom prst="roundRect">
            <a:avLst/>
          </a:prstGeom>
          <a:solidFill>
            <a:srgbClr val="E6C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6903720" y="3931920"/>
            <a:ext cx="502920" cy="2560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▦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7406640" y="4059936"/>
            <a:ext cx="548640" cy="0"/>
          </a:xfrm>
          <a:prstGeom prst="line">
            <a:avLst/>
          </a:prstGeom>
          <a:ln w="19050">
            <a:solidFill>
              <a:srgbClr val="C9A1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03720" y="4343400"/>
            <a:ext cx="502920" cy="256032"/>
          </a:xfrm>
          <a:prstGeom prst="roundRect">
            <a:avLst/>
          </a:prstGeom>
          <a:solidFill>
            <a:srgbClr val="E6C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6903720" y="4343400"/>
            <a:ext cx="502920" cy="2560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▦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7406640" y="4471416"/>
            <a:ext cx="548640" cy="0"/>
          </a:xfrm>
          <a:prstGeom prst="line">
            <a:avLst/>
          </a:prstGeom>
          <a:ln w="19050">
            <a:solidFill>
              <a:srgbClr val="C9A1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/>
          <p:cNvSpPr/>
          <p:nvPr/>
        </p:nvSpPr>
        <p:spPr>
          <a:xfrm>
            <a:off x="8046720" y="3474720"/>
            <a:ext cx="2194560" cy="1508760"/>
          </a:xfrm>
          <a:prstGeom prst="rect">
            <a:avLst/>
          </a:prstGeom>
          <a:solidFill>
            <a:srgbClr val="F7F2E8"/>
          </a:solidFill>
          <a:ln w="12700">
            <a:solidFill>
              <a:srgbClr val="E6C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8092440" y="3520440"/>
            <a:ext cx="2103120" cy="336042"/>
          </a:xfrm>
          <a:prstGeom prst="rect">
            <a:avLst/>
          </a:prstGeom>
          <a:solidFill>
            <a:srgbClr val="E8E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138160" y="3520440"/>
            <a:ext cx="365760" cy="33604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1A2A4F"/>
                </a:solidFill>
                <a:latin typeface="Georgia"/>
              </a:rPr>
              <a:t>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458200" y="3520440"/>
            <a:ext cx="960120" cy="33604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A2A4F"/>
                </a:solidFill>
                <a:latin typeface="Calibri"/>
              </a:rPr>
              <a:t>FEATURES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18320" y="3520440"/>
            <a:ext cx="777240" cy="33604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1A2A4F"/>
                </a:solidFill>
                <a:latin typeface="Calibri"/>
              </a:rPr>
              <a:t>VIF + RFE → 90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092440" y="3874770"/>
            <a:ext cx="2103120" cy="336042"/>
          </a:xfrm>
          <a:prstGeom prst="rect">
            <a:avLst/>
          </a:prstGeom>
          <a:solidFill>
            <a:srgbClr val="D4C9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8138160" y="3874770"/>
            <a:ext cx="365760" cy="33604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1A2A4F"/>
                </a:solidFill>
                <a:latin typeface="Georgia"/>
              </a:rPr>
              <a:t>02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458200" y="3874770"/>
            <a:ext cx="960120" cy="33604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A2A4F"/>
                </a:solidFill>
                <a:latin typeface="Calibri"/>
              </a:rPr>
              <a:t>HGBRg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18320" y="3874770"/>
            <a:ext cx="777240" cy="33604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1A2A4F"/>
                </a:solidFill>
                <a:latin typeface="Calibri"/>
              </a:rPr>
              <a:t>R² = 0.9988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092440" y="4229100"/>
            <a:ext cx="2103120" cy="336042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8138160" y="4229100"/>
            <a:ext cx="365760" cy="33604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1A2A4F"/>
                </a:solidFill>
                <a:latin typeface="Georgia"/>
              </a:rPr>
              <a:t>03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458200" y="4229100"/>
            <a:ext cx="960120" cy="33604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A2A4F"/>
                </a:solidFill>
                <a:latin typeface="Calibri"/>
              </a:rPr>
              <a:t>XAI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418320" y="4229100"/>
            <a:ext cx="777240" cy="33604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1A2A4F"/>
                </a:solidFill>
                <a:latin typeface="Calibri"/>
              </a:rPr>
              <a:t>SHAP + PDP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092440" y="4583430"/>
            <a:ext cx="2103120" cy="336042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8138160" y="4583430"/>
            <a:ext cx="365760" cy="33604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6C97A"/>
                </a:solidFill>
                <a:latin typeface="Georgia"/>
              </a:rPr>
              <a:t>04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458200" y="4583430"/>
            <a:ext cx="960120" cy="33604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E6C97A"/>
                </a:solidFill>
                <a:latin typeface="Calibri"/>
              </a:rPr>
              <a:t>AUDIT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418320" y="4583430"/>
            <a:ext cx="777240" cy="33604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E6C97A"/>
                </a:solidFill>
                <a:latin typeface="Calibri"/>
              </a:rPr>
              <a:t>Auditable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515600" y="3200400"/>
            <a:ext cx="91440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1" i="0">
                <a:solidFill>
                  <a:srgbClr val="C9A14A"/>
                </a:solidFill>
                <a:latin typeface="Calibri"/>
              </a:rPr>
              <a:t>OUTPUT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10241280" y="4229100"/>
            <a:ext cx="274320" cy="0"/>
          </a:xfrm>
          <a:prstGeom prst="line">
            <a:avLst/>
          </a:prstGeom>
          <a:ln w="19050">
            <a:solidFill>
              <a:srgbClr val="C9A1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29"/>
          <p:cNvSpPr/>
          <p:nvPr/>
        </p:nvSpPr>
        <p:spPr>
          <a:xfrm>
            <a:off x="10515600" y="3886200"/>
            <a:ext cx="868680" cy="685800"/>
          </a:xfrm>
          <a:prstGeom prst="rect">
            <a:avLst/>
          </a:prstGeom>
          <a:solidFill>
            <a:srgbClr val="F7F2E8"/>
          </a:solidFill>
          <a:ln w="19050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10515600" y="3931920"/>
            <a:ext cx="868680" cy="16459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1" i="0">
                <a:solidFill>
                  <a:srgbClr val="C9A14A"/>
                </a:solidFill>
                <a:latin typeface="Calibri"/>
              </a:rPr>
              <a:t>TRS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515600" y="4087368"/>
            <a:ext cx="86868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0.87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515600" y="4370832"/>
            <a:ext cx="868680" cy="16459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 i="1">
                <a:solidFill>
                  <a:srgbClr val="2E7D55"/>
                </a:solidFill>
                <a:latin typeface="Calibri"/>
              </a:rPr>
              <a:t>✓ explained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858000" y="5093208"/>
            <a:ext cx="457200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1">
                <a:solidFill>
                  <a:srgbClr val="1A2A4F"/>
                </a:solidFill>
                <a:latin typeface="Calibri"/>
              </a:rPr>
              <a:t>Decision logic: layer-by-layer.   ·   Audit? Supported.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831336" y="3547872"/>
            <a:ext cx="146304" cy="36576"/>
          </a:xfrm>
          <a:prstGeom prst="round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3831336" y="3584448"/>
            <a:ext cx="27432" cy="73152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3950208" y="3584448"/>
            <a:ext cx="27432" cy="73152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ounded Rectangle 137"/>
          <p:cNvSpPr/>
          <p:nvPr/>
        </p:nvSpPr>
        <p:spPr>
          <a:xfrm>
            <a:off x="3813048" y="3648456"/>
            <a:ext cx="182880" cy="118872"/>
          </a:xfrm>
          <a:prstGeom prst="round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38"/>
          <p:cNvSpPr/>
          <p:nvPr/>
        </p:nvSpPr>
        <p:spPr>
          <a:xfrm>
            <a:off x="2011680" y="3749040"/>
            <a:ext cx="2011680" cy="251460"/>
          </a:xfrm>
          <a:prstGeom prst="rect">
            <a:avLst/>
          </a:prstGeom>
          <a:solidFill>
            <a:srgbClr val="4A5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2057400" y="3749040"/>
            <a:ext cx="365760" cy="2514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C9A14A"/>
                </a:solidFill>
                <a:latin typeface="Georgia"/>
              </a:rPr>
              <a:t>??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468880" y="3815334"/>
            <a:ext cx="1508760" cy="118872"/>
          </a:xfrm>
          <a:prstGeom prst="rect">
            <a:avLst/>
          </a:prstGeom>
          <a:solidFill>
            <a:srgbClr val="0F1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2468880" y="3815334"/>
            <a:ext cx="1508760" cy="11887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 i="0">
                <a:solidFill>
                  <a:srgbClr val="4A5C7C"/>
                </a:solidFill>
                <a:latin typeface="Calibri"/>
              </a:rPr>
              <a:t>▓▓▓▓▓▓▓▓▓▓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011680" y="4018788"/>
            <a:ext cx="2011680" cy="251460"/>
          </a:xfrm>
          <a:prstGeom prst="rect">
            <a:avLst/>
          </a:prstGeom>
          <a:solidFill>
            <a:srgbClr val="2A3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2057400" y="4018788"/>
            <a:ext cx="365760" cy="2514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C9A14A"/>
                </a:solidFill>
                <a:latin typeface="Georgia"/>
              </a:rPr>
              <a:t>??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468880" y="4085082"/>
            <a:ext cx="1508760" cy="118872"/>
          </a:xfrm>
          <a:prstGeom prst="rect">
            <a:avLst/>
          </a:prstGeom>
          <a:solidFill>
            <a:srgbClr val="0F1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2468880" y="4085082"/>
            <a:ext cx="1508760" cy="11887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 i="0">
                <a:solidFill>
                  <a:srgbClr val="4A5C7C"/>
                </a:solidFill>
                <a:latin typeface="Calibri"/>
              </a:rPr>
              <a:t>▓▓▓▓▓▓▓▓▓▓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2011680" y="4288536"/>
            <a:ext cx="2011680" cy="25146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2057400" y="4288536"/>
            <a:ext cx="365760" cy="2514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C9A14A"/>
                </a:solidFill>
                <a:latin typeface="Georgia"/>
              </a:rPr>
              <a:t>??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68880" y="4354830"/>
            <a:ext cx="1508760" cy="118872"/>
          </a:xfrm>
          <a:prstGeom prst="rect">
            <a:avLst/>
          </a:prstGeom>
          <a:solidFill>
            <a:srgbClr val="0F1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2468880" y="4354830"/>
            <a:ext cx="1508760" cy="11887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 i="0">
                <a:solidFill>
                  <a:srgbClr val="4A5C7C"/>
                </a:solidFill>
                <a:latin typeface="Calibri"/>
              </a:rPr>
              <a:t>▓▓▓▓▓▓▓▓▓▓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011680" y="4558284"/>
            <a:ext cx="2011680" cy="251460"/>
          </a:xfrm>
          <a:prstGeom prst="rect">
            <a:avLst/>
          </a:prstGeom>
          <a:solidFill>
            <a:srgbClr val="0F1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2057400" y="4558284"/>
            <a:ext cx="365760" cy="2514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C9A14A"/>
                </a:solidFill>
                <a:latin typeface="Georgia"/>
              </a:rPr>
              <a:t>??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2468880" y="4624578"/>
            <a:ext cx="1508760" cy="118872"/>
          </a:xfrm>
          <a:prstGeom prst="rect">
            <a:avLst/>
          </a:prstGeom>
          <a:solidFill>
            <a:srgbClr val="0F1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2468880" y="4624578"/>
            <a:ext cx="1508760" cy="11887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 i="0">
                <a:solidFill>
                  <a:srgbClr val="4A5C7C"/>
                </a:solidFill>
                <a:latin typeface="Calibri"/>
              </a:rPr>
              <a:t>▓▓▓▓▓▓▓▓▓▓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965960" y="4782312"/>
            <a:ext cx="210312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1" i="0">
                <a:solidFill>
                  <a:srgbClr val="B03A2E"/>
                </a:solidFill>
                <a:latin typeface="Calibri"/>
              </a:rPr>
              <a:t>✗  SEALED  ·  UNVERIFIABLE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A2A4F"/>
                </a:solidFill>
                <a:latin typeface="Calibri"/>
              </a:rPr>
              <a:t>6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4  ·  METHODOLOGY  ·  HGBRG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Methodology — HGBRg: Stability and Reconstruction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Histogram-based Gradient Boosting — selected through a four-criterion filter.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2057400"/>
            <a:ext cx="3931920" cy="365760"/>
          </a:xfrm>
          <a:prstGeom prst="rect">
            <a:avLst/>
          </a:prstGeom>
          <a:solidFill>
            <a:srgbClr val="F1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03120" y="2103120"/>
            <a:ext cx="3931920" cy="320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2A4F"/>
                </a:solidFill>
                <a:latin typeface="Calibri"/>
              </a:rPr>
              <a:t>ALGORITHM SELECTION FUNNEL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651760"/>
            <a:ext cx="182880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1">
                <a:solidFill>
                  <a:srgbClr val="6E788E"/>
                </a:solidFill>
                <a:latin typeface="Calibri"/>
              </a:rPr>
              <a:t>All candidates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03120" y="2560320"/>
            <a:ext cx="3931920" cy="502920"/>
          </a:xfrm>
          <a:prstGeom prst="rect">
            <a:avLst/>
          </a:prstGeom>
          <a:solidFill>
            <a:srgbClr val="6E7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03120" y="2560320"/>
            <a:ext cx="3931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8 algorithms tested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3063240"/>
            <a:ext cx="39319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E788E"/>
                </a:solidFill>
                <a:latin typeface="Calibri"/>
              </a:rPr>
              <a:t>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337560"/>
            <a:ext cx="182880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1">
                <a:solidFill>
                  <a:srgbClr val="6E788E"/>
                </a:solidFill>
                <a:latin typeface="Calibri"/>
              </a:rPr>
              <a:t>High accuracy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98014" y="3246120"/>
            <a:ext cx="3342132" cy="502920"/>
          </a:xfrm>
          <a:prstGeom prst="rect">
            <a:avLst/>
          </a:prstGeom>
          <a:solidFill>
            <a:srgbClr val="3F4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398014" y="3246120"/>
            <a:ext cx="3342132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5 pass — R² &gt; 0.96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749040"/>
            <a:ext cx="39319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E788E"/>
                </a:solidFill>
                <a:latin typeface="Calibri"/>
              </a:rPr>
              <a:t>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023360"/>
            <a:ext cx="182880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1">
                <a:solidFill>
                  <a:srgbClr val="6E788E"/>
                </a:solidFill>
                <a:latin typeface="Calibri"/>
              </a:rPr>
              <a:t>Stability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92908" y="3931920"/>
            <a:ext cx="2752344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692908" y="3931920"/>
            <a:ext cx="2752344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Georgia"/>
              </a:rPr>
              <a:t>3 pass — PSI &lt; 0.10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4434840"/>
            <a:ext cx="39319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E788E"/>
                </a:solidFill>
                <a:latin typeface="Calibri"/>
              </a:rPr>
              <a:t>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709160"/>
            <a:ext cx="182880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1">
                <a:solidFill>
                  <a:srgbClr val="6E788E"/>
                </a:solidFill>
                <a:latin typeface="Calibri"/>
              </a:rPr>
              <a:t>Outlier resilience
&amp; XAI fit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87802" y="4617720"/>
            <a:ext cx="2162556" cy="5029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987802" y="4617720"/>
            <a:ext cx="2162556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Georgia"/>
              </a:rPr>
              <a:t>HGBRg  ★  Selected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057400"/>
            <a:ext cx="91440" cy="86868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92240" y="2057400"/>
            <a:ext cx="5212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75120" y="2148840"/>
            <a:ext cx="49377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14A"/>
                </a:solidFill>
                <a:latin typeface="Calibri"/>
              </a:rPr>
              <a:t>CRITERION 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2423160"/>
            <a:ext cx="493776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Resilience to Outliers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035808"/>
            <a:ext cx="91440" cy="86868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492240" y="3035808"/>
            <a:ext cx="5212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75120" y="3127248"/>
            <a:ext cx="49377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14A"/>
                </a:solidFill>
                <a:latin typeface="Calibri"/>
              </a:rPr>
              <a:t>CRITERION 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401568"/>
            <a:ext cx="493776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Non-Linear Dynamics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014216"/>
            <a:ext cx="91440" cy="86868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492240" y="4014216"/>
            <a:ext cx="5212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75120" y="4105656"/>
            <a:ext cx="49377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14A"/>
                </a:solidFill>
                <a:latin typeface="Calibri"/>
              </a:rPr>
              <a:t>CRITERION 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4379976"/>
            <a:ext cx="493776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Empirical Stability — R² 0.9988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4992624"/>
            <a:ext cx="91440" cy="86868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492240" y="4992624"/>
            <a:ext cx="52120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75120" y="5084064"/>
            <a:ext cx="49377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14A"/>
                </a:solidFill>
                <a:latin typeface="Calibri"/>
              </a:rPr>
              <a:t>CRITERION 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5358384"/>
            <a:ext cx="493776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Tail-Event Resilience  ·  47.7%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263640"/>
            <a:ext cx="11091672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1">
                <a:solidFill>
                  <a:srgbClr val="1A2A4F"/>
                </a:solidFill>
                <a:latin typeface="Georgia"/>
              </a:rPr>
              <a:t>Selected not for maximum accuracy alone — but for stability under adversarial market conditions, the defining requirement for investment-grade risk assessment.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A2A4F"/>
                </a:solidFill>
                <a:latin typeface="Calibri"/>
              </a:rPr>
              <a:t>7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4  ·  METHODOLOGY  ·  XAI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Explainable AI — Three Layers of Interpretability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Predictions are defensible and explainable to regulators, adoptable by investors.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11091672" cy="45720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1672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Explainability ≠ Nice to Have.   Under EU AI Act Art. 13, an unexplainable high-risk AI system is legally misaligned.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1371600" cy="114300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606040"/>
            <a:ext cx="1371600" cy="11430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C9A14A"/>
                </a:solidFill>
                <a:latin typeface="Georgia"/>
              </a:rPr>
              <a:t>LAYER
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65960" y="2606040"/>
            <a:ext cx="704088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94560" y="2715768"/>
            <a:ext cx="6675120" cy="38404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A2A4F"/>
                </a:solidFill>
                <a:latin typeface="Georgia"/>
              </a:rPr>
              <a:t>Permutation Feature Importance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108960"/>
            <a:ext cx="6675120" cy="5943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A2A4F"/>
                </a:solidFill>
                <a:latin typeface="Calibri"/>
              </a:rPr>
              <a:t>Global ranking. Tests how performance degrades when a variable is shuffled. Reveals Legal &amp; Regulatory and Location are dominant in the risk structure.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2606040"/>
            <a:ext cx="2642616" cy="1143000"/>
          </a:xfrm>
          <a:prstGeom prst="rect">
            <a:avLst/>
          </a:prstGeom>
          <a:solidFill>
            <a:srgbClr val="F1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0" y="2770632"/>
            <a:ext cx="2459736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OECD AI · 1.4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154680"/>
            <a:ext cx="2459736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LR 25.2%  ·  LS 22.5%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40480"/>
            <a:ext cx="1371600" cy="114300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3840480"/>
            <a:ext cx="1371600" cy="11430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C9A14A"/>
                </a:solidFill>
                <a:latin typeface="Georgia"/>
              </a:rPr>
              <a:t>LAYER
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65960" y="3840480"/>
            <a:ext cx="704088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194560" y="3950208"/>
            <a:ext cx="6675120" cy="38404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A2A4F"/>
                </a:solidFill>
                <a:latin typeface="Georgia"/>
              </a:rPr>
              <a:t>SHAP Values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4343400"/>
            <a:ext cx="6675120" cy="5943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A2A4F"/>
                </a:solidFill>
                <a:latin typeface="Calibri"/>
              </a:rPr>
              <a:t>Cornerstone for EU AI Act compliance. Per-prediction attribution decomposing factors raising or lowering risk — game-theory grounded.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3840480"/>
            <a:ext cx="2642616" cy="1143000"/>
          </a:xfrm>
          <a:prstGeom prst="rect">
            <a:avLst/>
          </a:prstGeom>
          <a:solidFill>
            <a:srgbClr val="F1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0" y="4005072"/>
            <a:ext cx="2459736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EU AI ACT · ART. 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4389120"/>
            <a:ext cx="2459736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Local + Global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074920"/>
            <a:ext cx="1371600" cy="114300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5074920"/>
            <a:ext cx="1371600" cy="11430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C9A14A"/>
                </a:solidFill>
                <a:latin typeface="Georgia"/>
              </a:rPr>
              <a:t>LAYER
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65960" y="5074920"/>
            <a:ext cx="704088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194560" y="5184648"/>
            <a:ext cx="6675120" cy="38404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A2A4F"/>
                </a:solidFill>
                <a:latin typeface="Georgia"/>
              </a:rPr>
              <a:t>Partial Dependence &amp; ALE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5577840"/>
            <a:ext cx="6675120" cy="5943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A2A4F"/>
                </a:solidFill>
                <a:latin typeface="Calibri"/>
              </a:rPr>
              <a:t>Visualises directional, non-linear effects on TRS — confirming the monotonic governance–risk relationship.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2560" y="5074920"/>
            <a:ext cx="2642616" cy="1143000"/>
          </a:xfrm>
          <a:prstGeom prst="rect">
            <a:avLst/>
          </a:prstGeom>
          <a:solidFill>
            <a:srgbClr val="F1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0" y="5239512"/>
            <a:ext cx="2459736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GDPR · ART. 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5623560"/>
            <a:ext cx="2459736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7 indices × TRS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6263640"/>
            <a:ext cx="11091672" cy="457200"/>
          </a:xfrm>
          <a:prstGeom prst="rect">
            <a:avLst/>
          </a:prstGeom>
          <a:solidFill>
            <a:srgbClr val="F1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85800" y="6263640"/>
            <a:ext cx="182880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NOTE FOR THE PANEL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06040" y="6263640"/>
            <a:ext cx="896112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2A4F"/>
                </a:solidFill>
                <a:latin typeface="Calibri"/>
              </a:rPr>
              <a:t>TRS = model's target (HGBRg learns from 90 features).   IDS = independent validator   →   ρ = 0.93 proves AI logic ≈ human intuition.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A2A4F"/>
                </a:solidFill>
                <a:latin typeface="Calibri"/>
              </a:rPr>
              <a:t>8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4  ·  METHODOLOGY  ·  FOCUS GROUPS &amp;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Focus Groups &amp; Methodological Validity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r>
              <a:rPr sz="1700" i="1">
                <a:solidFill>
                  <a:srgbClr val="3F4D6B"/>
                </a:solidFill>
                <a:latin typeface="Georgia"/>
              </a:rPr>
              <a:t>Built on N = 142 study participants — the IDS panel of 11 senior investors is a focused subset.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3657600" cy="448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3657600" cy="9144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240280"/>
            <a:ext cx="3200400" cy="320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01  FOCUS GROUPS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3200400" cy="5486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A2A4F"/>
                </a:solidFill>
                <a:latin typeface="Georgia"/>
              </a:rPr>
              <a:t>Participant Pool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91840"/>
            <a:ext cx="3200400" cy="2606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1A2A4F"/>
                </a:solidFill>
                <a:latin typeface="Calibri"/>
              </a:rPr>
              <a:t>Structured surveys administered to 142 participants — investors, entrepreneurs, and IT specialists — across 4 stratified groups (2018–2022). The 11-expert IDS panel is a focused subset.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989320"/>
            <a:ext cx="3657600" cy="502920"/>
          </a:xfrm>
          <a:prstGeom prst="rect">
            <a:avLst/>
          </a:prstGeom>
          <a:solidFill>
            <a:srgbClr val="F1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5989320"/>
            <a:ext cx="365760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300" b="1" i="1">
                <a:solidFill>
                  <a:srgbClr val="1A2A4F"/>
                </a:solidFill>
                <a:latin typeface="Georgia"/>
              </a:rPr>
              <a:t>N = 142  ·  multi-stakeholder pool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5112" y="2011680"/>
            <a:ext cx="3657600" cy="448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25112" y="2011680"/>
            <a:ext cx="36576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53712" y="2240280"/>
            <a:ext cx="3200400" cy="320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2A4F"/>
                </a:solidFill>
                <a:latin typeface="Calibri"/>
              </a:rPr>
              <a:t>02  EXPERT PANEL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2606040"/>
            <a:ext cx="3200400" cy="5486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A2A4F"/>
                </a:solidFill>
                <a:latin typeface="Georgia"/>
              </a:rPr>
              <a:t>N = 11 Senior Experts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3291840"/>
            <a:ext cx="3200400" cy="2606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A2A4F"/>
                </a:solidFill>
                <a:latin typeface="Calibri"/>
              </a:rPr>
              <a:t>A focused IDS panel — 11 senior real-estate professionals across 3 Delphi rounds — delivers the inter-rater agreement metric (κ = 0.82).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5112" y="5989320"/>
            <a:ext cx="3657600" cy="502920"/>
          </a:xfrm>
          <a:prstGeom prst="rect">
            <a:avLst/>
          </a:prstGeom>
          <a:solidFill>
            <a:srgbClr val="F1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5112" y="5989320"/>
            <a:ext cx="365760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300" b="1" i="1">
                <a:solidFill>
                  <a:srgbClr val="1A2A4F"/>
                </a:solidFill>
                <a:latin typeface="Georgia"/>
              </a:rPr>
              <a:t>Subset of 11 senior investors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01584" y="2011680"/>
            <a:ext cx="3657600" cy="448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01584" y="2011680"/>
            <a:ext cx="3657600" cy="91440"/>
          </a:xfrm>
          <a:prstGeom prst="rect">
            <a:avLst/>
          </a:prstGeom>
          <a:solidFill>
            <a:srgbClr val="2E7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30184" y="2240280"/>
            <a:ext cx="3200400" cy="320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E7D55"/>
                </a:solidFill>
                <a:latin typeface="Calibri"/>
              </a:rPr>
              <a:t>03  ACADEMIC STANDARD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0184" y="2606040"/>
            <a:ext cx="3200400" cy="5486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A2A4F"/>
                </a:solidFill>
                <a:latin typeface="Georgia"/>
              </a:rPr>
              <a:t>Sample-Size Validity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0184" y="3291840"/>
            <a:ext cx="3200400" cy="2606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A2A4F"/>
                </a:solidFill>
                <a:latin typeface="Calibri"/>
              </a:rPr>
              <a:t>N = 11 aligns with accepted Delphi-method standards (Hsu &amp; Sandford 2007; Skulmoski et al. 2007) — sufficient for content validity.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01584" y="5989320"/>
            <a:ext cx="3657600" cy="502920"/>
          </a:xfrm>
          <a:prstGeom prst="rect">
            <a:avLst/>
          </a:prstGeom>
          <a:solidFill>
            <a:srgbClr val="F1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101584" y="5989320"/>
            <a:ext cx="365760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1A2A4F"/>
                </a:solidFill>
                <a:latin typeface="Georgia"/>
              </a:rPr>
              <a:t>Methodologically defensible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A2A4F"/>
                </a:solidFill>
                <a:latin typeface="Calibri"/>
              </a:rPr>
              <a:t>9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4  ·  METHODOLOGY  ·  DATA INTEGRITY &amp; ERROR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Data Integrity &amp; Error Metrics (MAE)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Three protection channels + a precise read on prediction error.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365760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3657600" cy="45720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365760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CHANNEL 01 · MULTICOLLINEARITY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60320"/>
            <a:ext cx="320040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VIF &lt; 5 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17520"/>
            <a:ext cx="320040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Removes redundant variables before training. Ensures independent, non-redundant feature signals.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40480"/>
            <a:ext cx="3657600" cy="365760"/>
          </a:xfrm>
          <a:prstGeom prst="rect">
            <a:avLst/>
          </a:prstGeom>
          <a:solidFill>
            <a:srgbClr val="F1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3840480"/>
            <a:ext cx="365760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Removes spurious correlation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5112" y="2011680"/>
            <a:ext cx="365760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25112" y="2011680"/>
            <a:ext cx="3657600" cy="45720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25112" y="2057400"/>
            <a:ext cx="365760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CHANNEL 02 · FEATURE SELECTION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2560320"/>
            <a:ext cx="320040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RFE-CV Elimination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3017520"/>
            <a:ext cx="320040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Eliminates features that do not contribute genuine predictive signal. Preserves only stable, validated drivers.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5112" y="3840480"/>
            <a:ext cx="3657600" cy="365760"/>
          </a:xfrm>
          <a:prstGeom prst="rect">
            <a:avLst/>
          </a:prstGeom>
          <a:solidFill>
            <a:srgbClr val="F1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5112" y="3840480"/>
            <a:ext cx="365760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198 → 90 optimized features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01584" y="2011680"/>
            <a:ext cx="365760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01584" y="2011680"/>
            <a:ext cx="3657600" cy="45720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01584" y="2057400"/>
            <a:ext cx="365760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CHANNEL 03 · HONEST ESTIMATION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0184" y="2560320"/>
            <a:ext cx="320040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Nested Cross-Validation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0184" y="3017520"/>
            <a:ext cx="320040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Outer loop separated from inner. Standard k-fold leaks via hyperparameter tuning — nested CV does not.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01584" y="3840480"/>
            <a:ext cx="3657600" cy="365760"/>
          </a:xfrm>
          <a:prstGeom prst="rect">
            <a:avLst/>
          </a:prstGeom>
          <a:solidFill>
            <a:srgbClr val="F1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101584" y="3840480"/>
            <a:ext cx="365760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Zero leakage  ·  σ ≈ 1.23×10⁻⁴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343400"/>
            <a:ext cx="11091672" cy="1417320"/>
          </a:xfrm>
          <a:prstGeom prst="rect">
            <a:avLst/>
          </a:prstGeom>
          <a:solidFill>
            <a:srgbClr val="F1EADC"/>
          </a:solidFill>
          <a:ln w="15875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48640" y="4343400"/>
            <a:ext cx="2377440" cy="14173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4572000"/>
            <a:ext cx="237744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MEAN ABSOLUTE ERROR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892040"/>
            <a:ext cx="2377440" cy="64008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MAE = 0.008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507992"/>
            <a:ext cx="841248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Why MAE matters in this study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4937760"/>
            <a:ext cx="8412480" cy="10972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1A2A4F"/>
                </a:solidFill>
                <a:latin typeface="Calibri"/>
              </a:rPr>
              <a:t>MAE = 0.008 means typical prediction error is &lt; 1% of the TRS scale. Unlike RMSE, MAE does not over-penalise extreme errors — making it the appropriate fairness metric for legal admissibility.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943600"/>
            <a:ext cx="11091672" cy="59436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48640" y="5943600"/>
            <a:ext cx="3697224" cy="5943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Georgia"/>
              </a:rPr>
              <a:t>✓ ZERO DATA LEAKAGE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5864" y="5943600"/>
            <a:ext cx="3697224" cy="5943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Georgia"/>
              </a:rPr>
              <a:t>✓ HONEST ESTIMATES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43088" y="5943600"/>
            <a:ext cx="3697224" cy="5943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Georgia"/>
              </a:rPr>
              <a:t>✓ TEMPORAL ROBUSTNESS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A2A4F"/>
                </a:solidFill>
                <a:latin typeface="Calibri"/>
              </a:rPr>
              <a:t>10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5  ·  RESULTS  ·  GOVERNANCE IS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Governance is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Machine learning + human expert calibration — regulatory and spatial variables are dominant.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2194560"/>
          <a:ext cx="45720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474720"/>
            <a:ext cx="4572000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 i="0">
                <a:solidFill>
                  <a:srgbClr val="C9A14A"/>
                </a:solidFill>
                <a:latin typeface="Georgia"/>
              </a:rPr>
              <a:t>47.7%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23360"/>
            <a:ext cx="4572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LR + 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5760720"/>
            <a:ext cx="3657600" cy="457200"/>
          </a:xfrm>
          <a:prstGeom prst="rect">
            <a:avLst/>
          </a:prstGeom>
          <a:solidFill>
            <a:srgbClr val="2E7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760720"/>
            <a:ext cx="365760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Georgia"/>
              </a:rPr>
              <a:t>H1 CONFIRMED  ✓   LR + LS = 47.7%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2194560"/>
            <a:ext cx="5029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0" y="2194560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9A14A"/>
                </a:solidFill>
                <a:latin typeface="Georgia"/>
              </a:rPr>
              <a:t>LR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194560"/>
            <a:ext cx="192024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Legal &amp; Regulatory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2286000"/>
            <a:ext cx="3017520" cy="320040"/>
          </a:xfrm>
          <a:prstGeom prst="rect">
            <a:avLst/>
          </a:prstGeom>
          <a:solidFill>
            <a:srgbClr val="F1EADC"/>
          </a:solidFill>
          <a:ln w="508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46720" y="2286000"/>
            <a:ext cx="3017520" cy="3200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109960" y="2194560"/>
            <a:ext cx="91440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25.2%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2734056"/>
            <a:ext cx="5029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0" y="2734056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9A14A"/>
                </a:solidFill>
                <a:latin typeface="Georgia"/>
              </a:rPr>
              <a:t>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734056"/>
            <a:ext cx="192024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Location Score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2825496"/>
            <a:ext cx="3017520" cy="320040"/>
          </a:xfrm>
          <a:prstGeom prst="rect">
            <a:avLst/>
          </a:prstGeom>
          <a:solidFill>
            <a:srgbClr val="F1EADC"/>
          </a:solidFill>
          <a:ln w="508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46720" y="2825496"/>
            <a:ext cx="2694214" cy="32004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109960" y="2734056"/>
            <a:ext cx="91440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22.5%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3273552"/>
            <a:ext cx="5029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0" y="3273552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9A14A"/>
                </a:solidFill>
                <a:latin typeface="Georgia"/>
              </a:rPr>
              <a:t>MV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273552"/>
            <a:ext cx="192024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Market Volatility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6720" y="3364992"/>
            <a:ext cx="3017520" cy="320040"/>
          </a:xfrm>
          <a:prstGeom prst="rect">
            <a:avLst/>
          </a:prstGeom>
          <a:solidFill>
            <a:srgbClr val="F1EADC"/>
          </a:solidFill>
          <a:ln w="508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046720" y="3364992"/>
            <a:ext cx="2155371" cy="320040"/>
          </a:xfrm>
          <a:prstGeom prst="rect">
            <a:avLst/>
          </a:prstGeom>
          <a:solidFill>
            <a:srgbClr val="445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109960" y="3273552"/>
            <a:ext cx="91440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18.0%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0" y="3813048"/>
            <a:ext cx="5029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0" y="3813048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9A14A"/>
                </a:solidFill>
                <a:latin typeface="Georgia"/>
              </a:rPr>
              <a:t>ADP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3813048"/>
            <a:ext cx="192024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Additional Project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3904488"/>
            <a:ext cx="3017520" cy="320040"/>
          </a:xfrm>
          <a:prstGeom prst="rect">
            <a:avLst/>
          </a:prstGeom>
          <a:solidFill>
            <a:srgbClr val="F1EADC"/>
          </a:solidFill>
          <a:ln w="508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046720" y="3904488"/>
            <a:ext cx="1197428" cy="320040"/>
          </a:xfrm>
          <a:prstGeom prst="rect">
            <a:avLst/>
          </a:prstGeom>
          <a:solidFill>
            <a:srgbClr val="CFC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1109960" y="3813048"/>
            <a:ext cx="91440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10.0%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4352544"/>
            <a:ext cx="5029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86400" y="4352544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9A14A"/>
                </a:solidFill>
                <a:latin typeface="Georgia"/>
              </a:rPr>
              <a:t>EI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0760" y="4352544"/>
            <a:ext cx="192024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Economic Indicators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46720" y="4443984"/>
            <a:ext cx="3017520" cy="320040"/>
          </a:xfrm>
          <a:prstGeom prst="rect">
            <a:avLst/>
          </a:prstGeom>
          <a:solidFill>
            <a:srgbClr val="F1EADC"/>
          </a:solidFill>
          <a:ln w="508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046720" y="4443984"/>
            <a:ext cx="1185454" cy="320040"/>
          </a:xfrm>
          <a:prstGeom prst="rect">
            <a:avLst/>
          </a:prstGeom>
          <a:solidFill>
            <a:srgbClr val="B8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109960" y="4352544"/>
            <a:ext cx="91440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9.9%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4892040"/>
            <a:ext cx="5029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486400" y="4892040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9A14A"/>
                </a:solidFill>
                <a:latin typeface="Georgia"/>
              </a:rPr>
              <a:t>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4892040"/>
            <a:ext cx="192024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Environmental Risks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46720" y="4983480"/>
            <a:ext cx="3017520" cy="320040"/>
          </a:xfrm>
          <a:prstGeom prst="rect">
            <a:avLst/>
          </a:prstGeom>
          <a:solidFill>
            <a:srgbClr val="F1EADC"/>
          </a:solidFill>
          <a:ln w="508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046720" y="4983480"/>
            <a:ext cx="969917" cy="320040"/>
          </a:xfrm>
          <a:prstGeom prst="rect">
            <a:avLst/>
          </a:prstGeom>
          <a:solidFill>
            <a:srgbClr val="A8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109960" y="4892040"/>
            <a:ext cx="91440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8.1%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5431536"/>
            <a:ext cx="5029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486400" y="5431536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9A14A"/>
                </a:solidFill>
                <a:latin typeface="Georgia"/>
              </a:rPr>
              <a:t>PC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5431536"/>
            <a:ext cx="192024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Property Condition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46720" y="5522976"/>
            <a:ext cx="3017520" cy="320040"/>
          </a:xfrm>
          <a:prstGeom prst="rect">
            <a:avLst/>
          </a:prstGeom>
          <a:solidFill>
            <a:srgbClr val="F1EADC"/>
          </a:solidFill>
          <a:ln w="508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046720" y="5522976"/>
            <a:ext cx="754380" cy="320040"/>
          </a:xfrm>
          <a:prstGeom prst="rect">
            <a:avLst/>
          </a:prstGeom>
          <a:solidFill>
            <a:srgbClr val="CE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1109960" y="5431536"/>
            <a:ext cx="91440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6.3%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6263640"/>
            <a:ext cx="11091672" cy="411480"/>
          </a:xfrm>
          <a:prstGeom prst="rect">
            <a:avLst/>
          </a:prstGeom>
          <a:solidFill>
            <a:srgbClr val="F1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48640" y="6263640"/>
            <a:ext cx="11091672" cy="41148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1A2A4F"/>
                </a:solidFill>
                <a:latin typeface="Georgia"/>
              </a:rPr>
              <a:t>Validated by N = 11 senior experts  ·  Cohen's κ = 0.82  ·  Spearman ρ = 0.93 across 3 Delphi rounds.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11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r>
              <a:rPr sz="1300" b="1">
                <a:solidFill>
                  <a:srgbClr val="C9A14A"/>
                </a:solidFill>
                <a:latin typeface="Calibri"/>
              </a:rPr>
              <a:t>PART 5  ·  RESULTS  ·  FEATURE TAXONOMY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2800" b="1" i="0">
                <a:solidFill>
                  <a:srgbClr val="1A2A4F"/>
                </a:solidFill>
                <a:latin typeface="Georgia"/>
              </a:rPr>
              <a:t>Two Dominant Risk Domains: Legal &amp; Regulatory + Spatial / Location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5408676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5408676" cy="59436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4128516" cy="5943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9A14A"/>
                </a:solidFill>
                <a:latin typeface="Georgia"/>
              </a:rPr>
              <a:t>⚖  LEGAL  /  REGULATORY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60036" y="1947672"/>
            <a:ext cx="914400" cy="36576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60036" y="1947672"/>
            <a:ext cx="91440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A2A4F"/>
                </a:solidFill>
                <a:latin typeface="Calibri"/>
              </a:rPr>
              <a:t>25.2%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715768"/>
            <a:ext cx="91440" cy="9144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624328"/>
            <a:ext cx="2338578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2A4F"/>
                </a:solidFill>
                <a:latin typeface="Calibri"/>
              </a:rPr>
              <a:t>Building permits &amp; approvals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458718"/>
            <a:ext cx="91440" cy="9144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367278"/>
            <a:ext cx="2338578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2A4F"/>
                </a:solidFill>
                <a:latin typeface="Calibri"/>
              </a:rPr>
              <a:t>Zoning changes (TAMA / land-use)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201668"/>
            <a:ext cx="91440" cy="9144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4110228"/>
            <a:ext cx="2338578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2A4F"/>
                </a:solidFill>
                <a:latin typeface="Calibri"/>
              </a:rPr>
              <a:t>Governance index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944618"/>
            <a:ext cx="91440" cy="9144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4853178"/>
            <a:ext cx="2338578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2A4F"/>
                </a:solidFill>
                <a:latin typeface="Calibri"/>
              </a:rPr>
              <a:t>Regulatory volatility</a:t>
            </a:r>
          </a:p>
        </p:txBody>
      </p:sp>
      <p:sp>
        <p:nvSpPr>
          <p:cNvPr id="21" name="Oval 20"/>
          <p:cNvSpPr/>
          <p:nvPr/>
        </p:nvSpPr>
        <p:spPr>
          <a:xfrm>
            <a:off x="3344418" y="2715768"/>
            <a:ext cx="91440" cy="9144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527298" y="2624328"/>
            <a:ext cx="2338578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2A4F"/>
                </a:solidFill>
                <a:latin typeface="Calibri"/>
              </a:rPr>
              <a:t>Compliance certifications</a:t>
            </a:r>
          </a:p>
        </p:txBody>
      </p:sp>
      <p:sp>
        <p:nvSpPr>
          <p:cNvPr id="23" name="Oval 22"/>
          <p:cNvSpPr/>
          <p:nvPr/>
        </p:nvSpPr>
        <p:spPr>
          <a:xfrm>
            <a:off x="3344418" y="3458718"/>
            <a:ext cx="91440" cy="9144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527298" y="3367278"/>
            <a:ext cx="2338578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2A4F"/>
                </a:solidFill>
                <a:latin typeface="Calibri"/>
              </a:rPr>
              <a:t>Title clearance &amp; registration</a:t>
            </a:r>
          </a:p>
        </p:txBody>
      </p:sp>
      <p:sp>
        <p:nvSpPr>
          <p:cNvPr id="25" name="Oval 24"/>
          <p:cNvSpPr/>
          <p:nvPr/>
        </p:nvSpPr>
        <p:spPr>
          <a:xfrm>
            <a:off x="3344418" y="4201668"/>
            <a:ext cx="91440" cy="9144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27298" y="4110228"/>
            <a:ext cx="2338578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2A4F"/>
                </a:solidFill>
                <a:latin typeface="Calibri"/>
              </a:rPr>
              <a:t>Land-use restrictions</a:t>
            </a:r>
          </a:p>
        </p:txBody>
      </p:sp>
      <p:sp>
        <p:nvSpPr>
          <p:cNvPr id="27" name="Oval 26"/>
          <p:cNvSpPr/>
          <p:nvPr/>
        </p:nvSpPr>
        <p:spPr>
          <a:xfrm>
            <a:off x="3344418" y="4944618"/>
            <a:ext cx="91440" cy="9144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527298" y="4853178"/>
            <a:ext cx="2338578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2A4F"/>
                </a:solidFill>
                <a:latin typeface="Calibri"/>
              </a:rPr>
              <a:t>Court litigation index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1636" y="1828800"/>
            <a:ext cx="5408676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31636" y="1828800"/>
            <a:ext cx="5408676" cy="59436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14516" y="1828800"/>
            <a:ext cx="4128516" cy="5943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9A14A"/>
                </a:solidFill>
                <a:latin typeface="Georgia"/>
              </a:rPr>
              <a:t>⌖  SPATIAL  /  LOCATION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43032" y="1947672"/>
            <a:ext cx="914400" cy="36576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543032" y="1947672"/>
            <a:ext cx="91440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A2A4F"/>
                </a:solidFill>
                <a:latin typeface="Calibri"/>
              </a:rPr>
              <a:t>22.5%</a:t>
            </a:r>
          </a:p>
        </p:txBody>
      </p:sp>
      <p:sp>
        <p:nvSpPr>
          <p:cNvPr id="34" name="Oval 33"/>
          <p:cNvSpPr/>
          <p:nvPr/>
        </p:nvSpPr>
        <p:spPr>
          <a:xfrm>
            <a:off x="6414516" y="2715768"/>
            <a:ext cx="91440" cy="9144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97396" y="2624328"/>
            <a:ext cx="2338578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2A4F"/>
                </a:solidFill>
                <a:latin typeface="Calibri"/>
              </a:rPr>
              <a:t>Highway accessibility</a:t>
            </a:r>
          </a:p>
        </p:txBody>
      </p:sp>
      <p:sp>
        <p:nvSpPr>
          <p:cNvPr id="36" name="Oval 35"/>
          <p:cNvSpPr/>
          <p:nvPr/>
        </p:nvSpPr>
        <p:spPr>
          <a:xfrm>
            <a:off x="6414516" y="3458718"/>
            <a:ext cx="91440" cy="9144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97396" y="3367278"/>
            <a:ext cx="2338578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2A4F"/>
                </a:solidFill>
                <a:latin typeface="Calibri"/>
              </a:rPr>
              <a:t>Public transit proximity</a:t>
            </a:r>
          </a:p>
        </p:txBody>
      </p:sp>
      <p:sp>
        <p:nvSpPr>
          <p:cNvPr id="38" name="Oval 37"/>
          <p:cNvSpPr/>
          <p:nvPr/>
        </p:nvSpPr>
        <p:spPr>
          <a:xfrm>
            <a:off x="6414516" y="4201668"/>
            <a:ext cx="91440" cy="9144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97396" y="4110228"/>
            <a:ext cx="2338578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2A4F"/>
                </a:solidFill>
                <a:latin typeface="Calibri"/>
              </a:rPr>
              <a:t>Distance to commercial centers</a:t>
            </a:r>
          </a:p>
        </p:txBody>
      </p:sp>
      <p:sp>
        <p:nvSpPr>
          <p:cNvPr id="40" name="Oval 39"/>
          <p:cNvSpPr/>
          <p:nvPr/>
        </p:nvSpPr>
        <p:spPr>
          <a:xfrm>
            <a:off x="6414516" y="4944618"/>
            <a:ext cx="91440" cy="9144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97396" y="4853178"/>
            <a:ext cx="2338578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2A4F"/>
                </a:solidFill>
                <a:latin typeface="Calibri"/>
              </a:rPr>
              <a:t>Soil / geological risk</a:t>
            </a:r>
          </a:p>
        </p:txBody>
      </p:sp>
      <p:sp>
        <p:nvSpPr>
          <p:cNvPr id="42" name="Oval 41"/>
          <p:cNvSpPr/>
          <p:nvPr/>
        </p:nvSpPr>
        <p:spPr>
          <a:xfrm>
            <a:off x="9027414" y="2715768"/>
            <a:ext cx="91440" cy="9144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210294" y="2624328"/>
            <a:ext cx="2338578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2A4F"/>
                </a:solidFill>
                <a:latin typeface="Calibri"/>
              </a:rPr>
              <a:t>Flood-zone classification</a:t>
            </a:r>
          </a:p>
        </p:txBody>
      </p:sp>
      <p:sp>
        <p:nvSpPr>
          <p:cNvPr id="44" name="Oval 43"/>
          <p:cNvSpPr/>
          <p:nvPr/>
        </p:nvSpPr>
        <p:spPr>
          <a:xfrm>
            <a:off x="9027414" y="3458718"/>
            <a:ext cx="91440" cy="9144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210294" y="3367278"/>
            <a:ext cx="2338578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2A4F"/>
                </a:solidFill>
                <a:latin typeface="Calibri"/>
              </a:rPr>
              <a:t>Neighborhood quality index</a:t>
            </a:r>
          </a:p>
        </p:txBody>
      </p:sp>
      <p:sp>
        <p:nvSpPr>
          <p:cNvPr id="46" name="Oval 45"/>
          <p:cNvSpPr/>
          <p:nvPr/>
        </p:nvSpPr>
        <p:spPr>
          <a:xfrm>
            <a:off x="9027414" y="4201668"/>
            <a:ext cx="91440" cy="9144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210294" y="4110228"/>
            <a:ext cx="2338578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2A4F"/>
                </a:solidFill>
                <a:latin typeface="Calibri"/>
              </a:rPr>
              <a:t>School district rating</a:t>
            </a:r>
          </a:p>
        </p:txBody>
      </p:sp>
      <p:sp>
        <p:nvSpPr>
          <p:cNvPr id="48" name="Oval 47"/>
          <p:cNvSpPr/>
          <p:nvPr/>
        </p:nvSpPr>
        <p:spPr>
          <a:xfrm>
            <a:off x="9027414" y="4944618"/>
            <a:ext cx="91440" cy="9144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210294" y="4853178"/>
            <a:ext cx="2338578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2A4F"/>
                </a:solidFill>
                <a:latin typeface="Calibri"/>
              </a:rPr>
              <a:t>Crime rate index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6172200"/>
            <a:ext cx="11091672" cy="41148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31520" y="6172200"/>
            <a:ext cx="10725912" cy="41148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1">
                <a:solidFill>
                  <a:srgbClr val="E6C97A"/>
                </a:solidFill>
                <a:latin typeface="Georgia"/>
              </a:rPr>
              <a:t>RECIR is jurisdiction-agnostic — features transfer to Spanish / EU markets via local data substitution.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1A2A4F"/>
                </a:solidFill>
                <a:latin typeface="Calibri"/>
              </a:rPr>
              <a:t>12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5  ·  RESULTS  ·  TRS VS IDS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How We Arrived at ρ = 0.93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Two independent paths converge — algorithm and human expertise, completely different routes.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42062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2A4F"/>
                </a:solidFill>
                <a:latin typeface="Calibri"/>
              </a:rPr>
              <a:t>EXPERT IDS  vs  RECIR TRS  ·  50 TXNS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468880"/>
            <a:ext cx="1554480" cy="59436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155448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A2A4F"/>
                </a:solidFill>
                <a:latin typeface="Calibri"/>
              </a:rPr>
              <a:t>SPEARMAN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155448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ρ = 0.93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623560"/>
            <a:ext cx="1341120" cy="45720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5660136"/>
            <a:ext cx="1341120" cy="2286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Georgia"/>
              </a:rPr>
              <a:t>ρ = 0.93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870448"/>
            <a:ext cx="134112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Dual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81200" y="5623560"/>
            <a:ext cx="1341120" cy="45720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81200" y="5660136"/>
            <a:ext cx="1341120" cy="2286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Georgia"/>
              </a:rPr>
              <a:t>Sealed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1200" y="5870448"/>
            <a:ext cx="134112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Blind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3760" y="5623560"/>
            <a:ext cx="1341120" cy="45720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13760" y="5660136"/>
            <a:ext cx="1341120" cy="2286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Georgia"/>
              </a:rPr>
              <a:t>p &lt; 0.001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13760" y="5870448"/>
            <a:ext cx="134112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Strong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1965960"/>
            <a:ext cx="6583680" cy="470916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074920" y="1965960"/>
            <a:ext cx="6583680" cy="59436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74920" y="1993392"/>
            <a:ext cx="658368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9A14A"/>
                </a:solidFill>
                <a:latin typeface="Georgia"/>
              </a:rPr>
              <a:t>How ρ = 0.93 Was Calculated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743200"/>
            <a:ext cx="603504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STEP 1  ·  ALGORITHMIC TRACK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3035808"/>
            <a:ext cx="6035040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A2A4F"/>
                </a:solidFill>
                <a:latin typeface="Calibri"/>
              </a:rPr>
              <a:t>HGBRg → TRS · 50 sealed transactions · R² = 0.9988 · 90 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3703320"/>
            <a:ext cx="603504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STEP 2  ·  EXPERT TRACK (BLIND)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3995928"/>
            <a:ext cx="6035040" cy="6858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A2A4F"/>
                </a:solidFill>
                <a:latin typeface="Calibri"/>
              </a:rPr>
              <a:t>11 experts · 5-point Likert × 14 stages · sealed before TRS revealed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9240" y="4846320"/>
            <a:ext cx="603504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STEP 3  ·  CORRELATION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9240" y="5138928"/>
            <a:ext cx="603504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A2A4F"/>
                </a:solidFill>
                <a:latin typeface="Calibri"/>
              </a:rPr>
              <a:t>Spearman ρ on rank-ordered pairs (TRS, IDS) → ρ = 0.93, p &lt; 0.001</a:t>
            </a:r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548640" y="2194560"/>
          <a:ext cx="42062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13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5  ·  RESULTS  ·  COMPARATIVE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RECIR vs Traditional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Eight algorithms benchmarked — RECIR (HGBRg) performs best across all evaluated metrics.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2103120"/>
          <a:ext cx="658368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1874519"/>
            <a:ext cx="658368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R²  —  COEFFICIENT OF DETERMINATION  ·  HOLDOUT 2023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874519"/>
            <a:ext cx="43434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15200" y="1874519"/>
            <a:ext cx="434340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0" y="1874519"/>
            <a:ext cx="434340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E6C97A"/>
                </a:solidFill>
                <a:latin typeface="Calibri"/>
              </a:rPr>
              <a:t>WHAT "TRADITIONAL METHOD" MEANS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514600"/>
            <a:ext cx="40233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14A"/>
                </a:solidFill>
                <a:latin typeface="Calibri"/>
              </a:rPr>
              <a:t>BASELINE LINEAR ANCHORS  ·  THESIS §3.6.2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788920"/>
            <a:ext cx="4023360" cy="5943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Lars Regression and Decision Tree Regression serve as interpretive anchors — not competitive models.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520440"/>
            <a:ext cx="40233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14A"/>
                </a:solidFill>
                <a:latin typeface="Calibri"/>
              </a:rPr>
              <a:t>WHY HGBRg WAS SELECTED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3794760"/>
            <a:ext cx="4023360" cy="10515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Captures non-linear interactions across 90 features without overfitting — outperforming both linear baselines and other ensembles on R², MAE, and stability (PSI).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937760"/>
            <a:ext cx="40233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14A"/>
                </a:solidFill>
                <a:latin typeface="Calibri"/>
              </a:rPr>
              <a:t>TESTED ALGORITHMS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5212080"/>
            <a:ext cx="402336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F4D6B"/>
                </a:solidFill>
                <a:latin typeface="Calibri"/>
              </a:rPr>
              <a:t>HGBRg · XGBoost · Random Forest · Lars · Decision Tree · MLP · SVR · KNN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E6C97A"/>
                </a:solidFill>
                <a:latin typeface="Georgia"/>
              </a:rPr>
              <a:t>HGBRg outperforms the 7 alternatives by ≥ 1.5% R² — and is the strongest on stability (RMSE = 0.011).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14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5  ·  RESULTS  ·  SENSITIVITY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Sensitivity &amp; Ablation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Stepwise removal of governance features — H1 confirmed empirically.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361188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361188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361188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E6C97A"/>
                </a:solidFill>
                <a:latin typeface="Calibri"/>
              </a:rPr>
              <a:t>FULL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97480"/>
            <a:ext cx="3611880" cy="5943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 i="0">
                <a:solidFill>
                  <a:srgbClr val="1A2A4F"/>
                </a:solidFill>
                <a:latin typeface="Georgia"/>
              </a:rPr>
              <a:t>0.9988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91840"/>
            <a:ext cx="361188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All 90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566160"/>
            <a:ext cx="3337560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3F4D6B"/>
                </a:solidFill>
                <a:latin typeface="Calibri"/>
              </a:rPr>
              <a:t>Baseline — all features retained.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103120"/>
            <a:ext cx="361188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43400" y="2103120"/>
            <a:ext cx="3611880" cy="502920"/>
          </a:xfrm>
          <a:prstGeom prst="rect">
            <a:avLst/>
          </a:prstGeom>
          <a:solidFill>
            <a:srgbClr val="D48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43400" y="2103120"/>
            <a:ext cx="361188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REMOVE 25% (lowest)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2697480"/>
            <a:ext cx="3611880" cy="5943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 i="0">
                <a:solidFill>
                  <a:srgbClr val="1A2A4F"/>
                </a:solidFill>
                <a:latin typeface="Georgia"/>
              </a:rPr>
              <a:t>≈ 0.978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291840"/>
            <a:ext cx="361188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−2-3% R²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566160"/>
            <a:ext cx="3337560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3F4D6B"/>
                </a:solidFill>
                <a:latin typeface="Calibri"/>
              </a:rPr>
              <a:t>Lowest-ranked 25% of features removed — modest decline, slight increase in fold variance.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2103120"/>
            <a:ext cx="361188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38160" y="2103120"/>
            <a:ext cx="3611880" cy="50292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38160" y="2103120"/>
            <a:ext cx="361188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REMOVE 50% (mid)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697480"/>
            <a:ext cx="3611880" cy="5943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 i="0">
                <a:solidFill>
                  <a:srgbClr val="1A2A4F"/>
                </a:solidFill>
                <a:latin typeface="Georgia"/>
              </a:rPr>
              <a:t>≈ 0.953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3291840"/>
            <a:ext cx="361188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−4-5% R²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3566160"/>
            <a:ext cx="3337560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3F4D6B"/>
                </a:solidFill>
                <a:latin typeface="Calibri"/>
              </a:rPr>
              <a:t>50% of predictors removed — manageable loss, noticeably reduced temporal stability.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343400"/>
            <a:ext cx="110916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4343400"/>
            <a:ext cx="91440" cy="128016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4434840"/>
            <a:ext cx="1078992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14A"/>
                </a:solidFill>
                <a:latin typeface="Calibri"/>
              </a:rPr>
              <a:t>ABLATION OUTCOME  ·  STRUCTURAL ROBUSTNESS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800600"/>
            <a:ext cx="1078992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1A2A4F"/>
                </a:solidFill>
                <a:latin typeface="Calibri"/>
              </a:rPr>
              <a:t>Stepwise ablation (thesis §4.3) reveals monotonic degradation: 25% removal → 2-3% R² loss; 50% → 4-5%; 75% → sharp deterioration. Predictive structure is distributed — not concentrated in a small core.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852160"/>
            <a:ext cx="11091672" cy="64008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5852160"/>
            <a:ext cx="10725912" cy="64008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E6C97A"/>
                </a:solidFill>
                <a:latin typeface="Georgia"/>
              </a:rPr>
              <a:t>Ablation is causation evidence — removing a feature and watching performance collapse proves the feature was carrying real signal, not co-incidence.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15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r>
              <a:rPr sz="1300" b="1">
                <a:solidFill>
                  <a:srgbClr val="C9A14A"/>
                </a:solidFill>
                <a:latin typeface="Calibri"/>
              </a:rPr>
              <a:t>PART 5  ·  RESULTS  ·  BLACK-SWAN RESILIENCE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The Bins Method — Tail-Event Resilience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Histogram-based gradient boosting — continuous features partitioned into edge-protected bins.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566928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5669280" cy="45720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566928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E6C97A"/>
                </a:solidFill>
                <a:latin typeface="Calibri"/>
              </a:rPr>
              <a:t>FEATURE → 8 BINS  ·  EDGE PROTECTION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4400" y="4288536"/>
            <a:ext cx="577220" cy="603504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551620" y="3785616"/>
            <a:ext cx="577220" cy="1106424"/>
          </a:xfrm>
          <a:prstGeom prst="rect">
            <a:avLst/>
          </a:prstGeom>
          <a:solidFill>
            <a:srgbClr val="6E7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168840" y="3182112"/>
            <a:ext cx="577220" cy="1709928"/>
          </a:xfrm>
          <a:prstGeom prst="rect">
            <a:avLst/>
          </a:prstGeom>
          <a:solidFill>
            <a:srgbClr val="6E7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86060" y="2880360"/>
            <a:ext cx="577220" cy="2011680"/>
          </a:xfrm>
          <a:prstGeom prst="rect">
            <a:avLst/>
          </a:prstGeom>
          <a:solidFill>
            <a:srgbClr val="0F1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403280" y="2980944"/>
            <a:ext cx="577220" cy="1911096"/>
          </a:xfrm>
          <a:prstGeom prst="rect">
            <a:avLst/>
          </a:prstGeom>
          <a:solidFill>
            <a:srgbClr val="0F1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020500" y="3483864"/>
            <a:ext cx="577220" cy="1408176"/>
          </a:xfrm>
          <a:prstGeom prst="rect">
            <a:avLst/>
          </a:prstGeom>
          <a:solidFill>
            <a:srgbClr val="6E7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637720" y="3986784"/>
            <a:ext cx="577220" cy="905256"/>
          </a:xfrm>
          <a:prstGeom prst="rect">
            <a:avLst/>
          </a:prstGeom>
          <a:solidFill>
            <a:srgbClr val="6E7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254940" y="4389120"/>
            <a:ext cx="577220" cy="5029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914400" y="4892040"/>
            <a:ext cx="4937760" cy="0"/>
          </a:xfrm>
          <a:prstGeom prst="line">
            <a:avLst/>
          </a:prstGeom>
          <a:ln w="12700">
            <a:solidFill>
              <a:srgbClr val="1A2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4937760"/>
            <a:ext cx="5669280" cy="2286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6E788E"/>
                </a:solidFill>
                <a:latin typeface="Calibri"/>
              </a:rPr>
              <a:t>← LOW VALUE   FEATURE DISTRIBUTION   HIGH VALUE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257800"/>
            <a:ext cx="2194560" cy="2286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9A14A"/>
                </a:solidFill>
                <a:latin typeface="Calibri"/>
              </a:rPr>
              <a:t>■  EDGE BINS (extremes)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5257800"/>
            <a:ext cx="1463040" cy="2286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F1B35"/>
                </a:solidFill>
                <a:latin typeface="Calibri"/>
              </a:rPr>
              <a:t>■  CORE BINS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257800"/>
            <a:ext cx="1463040" cy="2286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6E788E"/>
                </a:solidFill>
                <a:latin typeface="Calibri"/>
              </a:rPr>
              <a:t>■  INTERIOR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2103120"/>
            <a:ext cx="52578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00800" y="2103120"/>
            <a:ext cx="91440" cy="114300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29400" y="2176272"/>
            <a:ext cx="4892040" cy="2286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14A"/>
                </a:solidFill>
                <a:latin typeface="Calibri"/>
              </a:rPr>
              <a:t>WHAT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395728"/>
            <a:ext cx="489204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Histogram Binning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2697480"/>
            <a:ext cx="4892040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F4D6B"/>
                </a:solidFill>
                <a:latin typeface="Calibri"/>
              </a:rPr>
              <a:t>HGBRg discretizes each continuous feature into ≈ 256 bins instead of operating on raw values.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337560"/>
            <a:ext cx="52578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400800" y="3337560"/>
            <a:ext cx="91440" cy="114300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29400" y="3410712"/>
            <a:ext cx="4892040" cy="2286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r>
              <a:rPr sz="1100" b="1">
                <a:solidFill>
                  <a:srgbClr val="C9A14A"/>
                </a:solidFill>
                <a:latin typeface="Calibri"/>
              </a:rPr>
              <a:t>ABLATION RESILIENCE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630168"/>
            <a:ext cx="489204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r>
              <a:rPr sz="1500" b="1">
                <a:solidFill>
                  <a:srgbClr val="1A2A4F"/>
                </a:solidFill>
                <a:latin typeface="Georgia"/>
              </a:rPr>
              <a:t>Distributed 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3931920"/>
            <a:ext cx="4892040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100">
                <a:solidFill>
                  <a:srgbClr val="3F4D6B"/>
                </a:solidFill>
                <a:latin typeface="Calibri"/>
              </a:rPr>
              <a:t>Remove Legal/Reg → 0.9988 → ≈ 0.961. Remove top-2 features → still &gt; 0.90. Gradient boosting reroutes signals across adjacent variables.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572000"/>
            <a:ext cx="52578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400800" y="4572000"/>
            <a:ext cx="91440" cy="114300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29400" y="4645152"/>
            <a:ext cx="4892040" cy="2286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14A"/>
                </a:solidFill>
                <a:latin typeface="Calibri"/>
              </a:rPr>
              <a:t>THESIS GROUNDING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864608"/>
            <a:ext cx="4892040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3F4D6B"/>
                </a:solidFill>
                <a:latin typeface="Calibri"/>
              </a:rPr>
              <a:t>Empirically validated: σ ≈ 1.23×10⁻⁴ across 10 nested folds spanning COVID-19 and war.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897880"/>
            <a:ext cx="11091672" cy="59436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31520" y="5897880"/>
            <a:ext cx="10725912" cy="5943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E6C97A"/>
                </a:solidFill>
                <a:latin typeface="Georgia"/>
              </a:rPr>
              <a:t>Histogram-based binning makes HGBRg fast AND stable — the foundation of the model's tail-event resilience.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16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5  ·  RESULTS  ·  TEMPORAL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r>
              <a:rPr sz="3000" b="1">
                <a:solidFill>
                  <a:srgbClr val="1A2A4F"/>
                </a:solidFill>
                <a:latin typeface="Georgia"/>
              </a:rPr>
              <a:t>Temporal Generalization (2015–2023)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Risk pattern recovery holds through COVID-19 and war — empirical robustness.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2103120"/>
          <a:ext cx="7498079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1874519"/>
            <a:ext cx="7498079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R² PER YEAR  ·  10-FOLD NESTED CV  ·  RANGE 0.996–1.000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852160"/>
            <a:ext cx="7543800" cy="64008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5852160"/>
            <a:ext cx="7178040" cy="64008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E6C97A"/>
                </a:solidFill>
                <a:latin typeface="Georgia"/>
              </a:rPr>
              <a:t>If this were overfitting, fold variance would explode under crisis. It does not.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2103120"/>
            <a:ext cx="347472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229600" y="2103120"/>
            <a:ext cx="91440" cy="411480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412480" y="2240280"/>
            <a:ext cx="3200400" cy="292608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412480" y="2240280"/>
            <a:ext cx="3200400" cy="29260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1">
                <a:solidFill>
                  <a:srgbClr val="E6C97A"/>
                </a:solidFill>
                <a:latin typeface="Calibri"/>
              </a:rPr>
              <a:t>WHY THE MODEL DIDN'T COLLAPSE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2651760"/>
            <a:ext cx="3108960" cy="3383280"/>
          </a:xfrm>
          <a:prstGeom prst="rect">
            <a:avLst/>
          </a:prstGeom>
          <a:noFill/>
        </p:spPr>
        <p:txBody>
          <a:bodyPr wrap="square" lIns="54864" rIns="54864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3F4D6B"/>
                </a:solidFill>
                <a:latin typeface="Calibri"/>
              </a:rPr>
              <a:t>Our 9-year panel data includes severe market shocks — COVID-19 and the 2022 interest-rate hikes.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>
                <a:solidFill>
                  <a:srgbClr val="3F4D6B"/>
                </a:solidFill>
                <a:latin typeface="Calibri"/>
              </a:rPr>
              <a:t>The HGBRg didn't collapse during these crises because of an optimized binning strategy: </a:t>
            </a:r>
            <a:r>
              <a:rPr sz="1300" b="1">
                <a:solidFill>
                  <a:srgbClr val="1A2A4F"/>
                </a:solidFill>
                <a:latin typeface="Calibri"/>
              </a:rPr>
              <a:t>features are compressed into 255 discrete bins.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>
                <a:solidFill>
                  <a:srgbClr val="3F4D6B"/>
                </a:solidFill>
                <a:latin typeface="Calibri"/>
              </a:rPr>
              <a:t>Extreme outlier values from turbulent years fall into edge bins and lose their numerical power to distort the algorithm.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300" b="1" i="1">
                <a:solidFill>
                  <a:srgbClr val="1A2A4F"/>
                </a:solidFill>
                <a:latin typeface="Calibri"/>
              </a:rPr>
              <a:t>This is precisely what prevents tail risk from exploding the model in chaotic markets.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17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6  ·  ARCHITECTURE  ·  INTEGRATED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r>
              <a:rPr sz="3000" b="1">
                <a:solidFill>
                  <a:srgbClr val="1A2A4F"/>
                </a:solidFill>
                <a:latin typeface="Georgia"/>
              </a:rPr>
              <a:t>RECIR — End-to-End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Five stages from raw input to auditable, traceable output — with EU AI Act Art. 13 traceability across stages.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31720"/>
            <a:ext cx="1926336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1926336" cy="5029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1926336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01  · 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71800"/>
            <a:ext cx="1743456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Raw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20440"/>
            <a:ext cx="1743456" cy="12801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AHS · WDI · Delphi expert (N=11)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474976" y="3470148"/>
            <a:ext cx="365760" cy="329184"/>
          </a:xfrm>
          <a:prstGeom prst="rightArrow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840736" y="2331720"/>
            <a:ext cx="1926336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840736" y="2331720"/>
            <a:ext cx="1926336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840736" y="2331720"/>
            <a:ext cx="1926336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02  ·  RECIR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2176" y="2971800"/>
            <a:ext cx="1743456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Risk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2176" y="3520440"/>
            <a:ext cx="1743456" cy="12801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HGBRg + 90 features
TRS = 0.9988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767072" y="3470148"/>
            <a:ext cx="365760" cy="329184"/>
          </a:xfrm>
          <a:prstGeom prst="rightArrow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132832" y="2331720"/>
            <a:ext cx="1926336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132832" y="2331720"/>
            <a:ext cx="1926336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132832" y="2331720"/>
            <a:ext cx="1926336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03  ·  SRME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4272" y="2971800"/>
            <a:ext cx="1743456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Visual Verify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4272" y="3520440"/>
            <a:ext cx="1743456" cy="12801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ResNet V2-152
98.75% accuracy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059168" y="3470148"/>
            <a:ext cx="365760" cy="329184"/>
          </a:xfrm>
          <a:prstGeom prst="rightArrow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424928" y="2331720"/>
            <a:ext cx="1926336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424928" y="2331720"/>
            <a:ext cx="1926336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24928" y="2331720"/>
            <a:ext cx="1926336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04  ·  XAI 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971800"/>
            <a:ext cx="1743456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Explainability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8" y="3520440"/>
            <a:ext cx="1743456" cy="12801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SHAP · Permutation
PDP · ALE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351264" y="3470148"/>
            <a:ext cx="365760" cy="329184"/>
          </a:xfrm>
          <a:prstGeom prst="rightArrow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717024" y="2331720"/>
            <a:ext cx="1926336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717024" y="2331720"/>
            <a:ext cx="1926336" cy="5029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717024" y="2331720"/>
            <a:ext cx="1926336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05  ·  OUTPUT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8464" y="2971800"/>
            <a:ext cx="1743456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08464" y="3520440"/>
            <a:ext cx="1743456" cy="12801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Auditable audit
traceable across stages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074920"/>
            <a:ext cx="11091672" cy="7772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31520" y="5129784"/>
            <a:ext cx="10725912" cy="32918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EU AI ACT  ·  ART. 13  ·  TRANSPARENCY &amp; DOCUMENTATION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458968"/>
            <a:ext cx="1072591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E6C97A"/>
                </a:solidFill>
                <a:latin typeface="Georgia"/>
              </a:rPr>
              <a:t>Each stage logs inputs, weights, and outputs — full audit trail from raw record to legal decision.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31520" y="5989320"/>
            <a:ext cx="10725912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End-to-end auditability — predictions traceable to the underlying record, weight, and regulatory clause.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18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6  ·  VALIDATION  ·  EXPERT PANEL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Expert Panel Validation — Three Delphi Rounds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N = 11 senior experts · κ = 0.82 substantial agreement · ρ = 0.93 with algorithmic TRS.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357632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35763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35763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E6C97A"/>
                </a:solidFill>
                <a:latin typeface="Calibri"/>
              </a:rPr>
              <a:t>ROUND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97480"/>
            <a:ext cx="33020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INDIVIDUAL SCORING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17520"/>
            <a:ext cx="3210560" cy="1508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Each of 11 experts independently ranks the 7 risk indices on a 5-point Likert scale. No discussion. Sealed responses.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617720"/>
            <a:ext cx="2753360" cy="502920"/>
          </a:xfrm>
          <a:prstGeom prst="rect">
            <a:avLst/>
          </a:prstGeom>
          <a:solidFill>
            <a:srgbClr val="F7F2E8"/>
          </a:solidFill>
          <a:ln w="12700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4617720"/>
            <a:ext cx="275336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κ = 0.51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166360"/>
            <a:ext cx="33020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C9A14A"/>
                </a:solidFill>
                <a:latin typeface="Calibri"/>
              </a:rPr>
              <a:t>Moderate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7840" y="2103120"/>
            <a:ext cx="357632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307840" y="2103120"/>
            <a:ext cx="35763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07840" y="2103120"/>
            <a:ext cx="35763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E6C97A"/>
                </a:solidFill>
                <a:latin typeface="Calibri"/>
              </a:rPr>
              <a:t>ROUND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5000" y="2697480"/>
            <a:ext cx="33020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ANONYMIZED FEEDBACK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0720" y="3017520"/>
            <a:ext cx="3210560" cy="1508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Aggregated rankings shared. Experts review group medians and revise. Outliers must justify deviation in writing.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19320" y="4617720"/>
            <a:ext cx="2753360" cy="502920"/>
          </a:xfrm>
          <a:prstGeom prst="rect">
            <a:avLst/>
          </a:prstGeom>
          <a:solidFill>
            <a:srgbClr val="F7F2E8"/>
          </a:solidFill>
          <a:ln w="12700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19320" y="4617720"/>
            <a:ext cx="275336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κ = 0.74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5000" y="5166360"/>
            <a:ext cx="33020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C9A14A"/>
                </a:solidFill>
                <a:latin typeface="Calibri"/>
              </a:rPr>
              <a:t>Strong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67040" y="2103120"/>
            <a:ext cx="357632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67040" y="2103120"/>
            <a:ext cx="35763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67040" y="2103120"/>
            <a:ext cx="35763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E6C97A"/>
                </a:solidFill>
                <a:latin typeface="Calibri"/>
              </a:rPr>
              <a:t>ROUND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4200" y="2697480"/>
            <a:ext cx="33020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CONVERGENCE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9920" y="3017520"/>
            <a:ext cx="3210560" cy="1508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Final calibration — convergence reached. Consensus weights frozen and locked into the RECIR framework.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78520" y="4617720"/>
            <a:ext cx="2753360" cy="502920"/>
          </a:xfrm>
          <a:prstGeom prst="rect">
            <a:avLst/>
          </a:prstGeom>
          <a:solidFill>
            <a:srgbClr val="F7F2E8"/>
          </a:solidFill>
          <a:ln w="12700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78520" y="4617720"/>
            <a:ext cx="275336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κ = 0.82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4200" y="5166360"/>
            <a:ext cx="33020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C9A14A"/>
                </a:solidFill>
                <a:latin typeface="Calibri"/>
              </a:rPr>
              <a:t>Substantial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852160"/>
            <a:ext cx="11091672" cy="64008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852160"/>
            <a:ext cx="10725912" cy="64008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Three Delphi rounds → κ = 0.82 (substantial agreement) → ρ = 0.93 with HGBRg → triangulated validity.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19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r>
              <a:rPr sz="1300" b="1">
                <a:solidFill>
                  <a:srgbClr val="C9A14A"/>
                </a:solidFill>
                <a:latin typeface="Calibri"/>
              </a:rPr>
              <a:t>PART 6  ·  COMPLIANCE  ·  AUDIT TRAIL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Decision Log — Auditable Trail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1700" b="0" i="1">
                <a:solidFill>
                  <a:srgbClr val="3F4D6B"/>
                </a:solidFill>
                <a:latin typeface="Georgia"/>
              </a:rPr>
              <a:t>Predictions are traceable to underlying records, weights, and regulatory clauses — supporting auditability and human review.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256794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567940" cy="73152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267712"/>
            <a:ext cx="25679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23850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1A2A4F"/>
                </a:solidFill>
                <a:latin typeface="Georgia"/>
              </a:rPr>
              <a:t>Raw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71800"/>
            <a:ext cx="23850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3F4D6B"/>
                </a:solidFill>
                <a:latin typeface="Calibri"/>
              </a:rPr>
              <a:t>AHS + WDI fields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16580" y="2606040"/>
            <a:ext cx="274320" cy="274320"/>
          </a:xfrm>
          <a:prstGeom prst="rightArrow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90900" y="2103120"/>
            <a:ext cx="256794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90900" y="2103120"/>
            <a:ext cx="2567940" cy="73152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90900" y="2267712"/>
            <a:ext cx="25679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PROCESS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2340" y="2560320"/>
            <a:ext cx="23850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1A2A4F"/>
                </a:solidFill>
                <a:latin typeface="Georgia"/>
              </a:rPr>
              <a:t>HGBRg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2340" y="2971800"/>
            <a:ext cx="23850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3F4D6B"/>
                </a:solidFill>
                <a:latin typeface="Calibri"/>
              </a:rPr>
              <a:t>90 features → TRS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58840" y="2606040"/>
            <a:ext cx="274320" cy="274320"/>
          </a:xfrm>
          <a:prstGeom prst="rightArrow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33160" y="2103120"/>
            <a:ext cx="256794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33160" y="2103120"/>
            <a:ext cx="2567940" cy="73152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33160" y="2267712"/>
            <a:ext cx="25679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EXPLAIN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600" y="2560320"/>
            <a:ext cx="23850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1A2A4F"/>
                </a:solidFill>
                <a:latin typeface="Georgia"/>
              </a:rPr>
              <a:t>SHAP 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600" y="2971800"/>
            <a:ext cx="23850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3F4D6B"/>
                </a:solidFill>
                <a:latin typeface="Calibri"/>
              </a:rPr>
              <a:t>Per-feature attribution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801100" y="2606040"/>
            <a:ext cx="274320" cy="274320"/>
          </a:xfrm>
          <a:prstGeom prst="rightArrow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75420" y="2103120"/>
            <a:ext cx="256794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75420" y="2103120"/>
            <a:ext cx="2567940" cy="73152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075420" y="2267712"/>
            <a:ext cx="25679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6860" y="2560320"/>
            <a:ext cx="23850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1A2A4F"/>
                </a:solidFill>
                <a:latin typeface="Georgia"/>
              </a:rPr>
              <a:t>Decision Log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66860" y="2971800"/>
            <a:ext cx="23850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3F4D6B"/>
                </a:solidFill>
                <a:latin typeface="Calibri"/>
              </a:rPr>
              <a:t>Auditable, signed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840480"/>
            <a:ext cx="36118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3931920"/>
            <a:ext cx="502920" cy="5943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C9A14A"/>
                </a:solidFill>
                <a:latin typeface="Calibri"/>
              </a:rPr>
              <a:t>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3931920"/>
            <a:ext cx="28346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TRACEABILITY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34440" y="4206240"/>
            <a:ext cx="283464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2A4F"/>
                </a:solidFill>
                <a:latin typeface="Calibri"/>
              </a:rPr>
              <a:t>Each weight traceable to source record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43400" y="3840480"/>
            <a:ext cx="36118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480560" y="3931920"/>
            <a:ext cx="502920" cy="5943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C9A14A"/>
                </a:solidFill>
                <a:latin typeface="Calibri"/>
              </a:rPr>
              <a:t>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0" y="3931920"/>
            <a:ext cx="28346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REPRODUCIBILITY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0" y="4206240"/>
            <a:ext cx="283464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2A4F"/>
                </a:solidFill>
                <a:latin typeface="Calibri"/>
              </a:rPr>
              <a:t>Same inputs → same TRS, deterministic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38160" y="3840480"/>
            <a:ext cx="36118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75320" y="3931920"/>
            <a:ext cx="502920" cy="5943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C9A14A"/>
                </a:solidFill>
                <a:latin typeface="Calibri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23960" y="3931920"/>
            <a:ext cx="28346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LEGAL DEFENSIBILITY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23960" y="4206240"/>
            <a:ext cx="283464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2A4F"/>
                </a:solidFill>
                <a:latin typeface="Calibri"/>
              </a:rPr>
              <a:t>EU AI Act Art. 13 supported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6080760"/>
            <a:ext cx="11091672" cy="45720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31520" y="6080760"/>
            <a:ext cx="10725912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300" b="1" i="1">
                <a:solidFill>
                  <a:srgbClr val="1A2A4F"/>
                </a:solidFill>
                <a:latin typeface="Georgia"/>
              </a:rPr>
              <a:t>Predictions are defensible. Weights are traceable. Decisions are auditable.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20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6  ·  ARCHITECTURE  ·  SRME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SRME — Synthetic Reality Mapping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Computer vision verifies what the data claims — closing the gap between record and reality.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3575304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3575304" cy="54864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3575304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06040"/>
            <a:ext cx="3575304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 i="0">
                <a:solidFill>
                  <a:srgbClr val="1A2A4F"/>
                </a:solidFill>
                <a:latin typeface="Georgia"/>
              </a:rPr>
              <a:t>ResNet V2-152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91840"/>
            <a:ext cx="3575304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3F4D6B"/>
                </a:solidFill>
                <a:latin typeface="Calibri"/>
              </a:rPr>
              <a:t>Selected from 3 candidate CNNs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6824" y="2103120"/>
            <a:ext cx="3575304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06824" y="2103120"/>
            <a:ext cx="3575304" cy="54864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06824" y="2286000"/>
            <a:ext cx="3575304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06824" y="2606040"/>
            <a:ext cx="3575304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1A2A4F"/>
                </a:solidFill>
                <a:latin typeface="Georgia"/>
              </a:rPr>
              <a:t>98.75%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06824" y="3291840"/>
            <a:ext cx="3575304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3F4D6B"/>
                </a:solidFill>
                <a:latin typeface="Calibri"/>
              </a:rPr>
              <a:t>Validated on held-out test set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5008" y="2103120"/>
            <a:ext cx="3575304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65008" y="2103120"/>
            <a:ext cx="3575304" cy="54864"/>
          </a:xfrm>
          <a:prstGeom prst="rect">
            <a:avLst/>
          </a:prstGeom>
          <a:solidFill>
            <a:srgbClr val="2E7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65008" y="2286000"/>
            <a:ext cx="3575304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CHECKPOINTS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2606040"/>
            <a:ext cx="3575304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1A2A4F"/>
                </a:solidFill>
                <a:latin typeface="Georgia"/>
              </a:rPr>
              <a:t>14 Stages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8" y="3291840"/>
            <a:ext cx="3575304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3F4D6B"/>
                </a:solidFill>
                <a:latin typeface="Calibri"/>
              </a:rPr>
              <a:t>Excavation → Occupancy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069080"/>
            <a:ext cx="11091672" cy="150876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4206240"/>
            <a:ext cx="11091672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HOW SRME CLOSES THE TRUST GAP</a:t>
            </a:r>
          </a:p>
        </p:txBody>
      </p:sp>
      <p:sp>
        <p:nvSpPr>
          <p:cNvPr id="25" name="Oval 24"/>
          <p:cNvSpPr/>
          <p:nvPr/>
        </p:nvSpPr>
        <p:spPr>
          <a:xfrm>
            <a:off x="822960" y="4572000"/>
            <a:ext cx="411480" cy="41148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60" y="4572000"/>
            <a:ext cx="411480" cy="41148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A2A4F"/>
                </a:solidFill>
                <a:latin typeface="Georgia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4572000"/>
            <a:ext cx="2782824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6C97A"/>
                </a:solidFill>
                <a:latin typeface="Calibri"/>
              </a:rPr>
              <a:t>INGEST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846320"/>
            <a:ext cx="2782824" cy="5943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Satellite &amp; street-level imagery of the site</a:t>
            </a:r>
          </a:p>
        </p:txBody>
      </p:sp>
      <p:sp>
        <p:nvSpPr>
          <p:cNvPr id="29" name="Oval 28"/>
          <p:cNvSpPr/>
          <p:nvPr/>
        </p:nvSpPr>
        <p:spPr>
          <a:xfrm>
            <a:off x="4520184" y="4572000"/>
            <a:ext cx="411480" cy="41148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20184" y="4572000"/>
            <a:ext cx="411480" cy="41148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A2A4F"/>
                </a:solidFill>
                <a:latin typeface="Georgia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3104" y="4572000"/>
            <a:ext cx="2782824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6C97A"/>
                </a:solidFill>
                <a:latin typeface="Calibri"/>
              </a:rPr>
              <a:t>CLASSIFY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3104" y="4846320"/>
            <a:ext cx="2782824" cy="5943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ResNet V2-152 identifies current construction stage</a:t>
            </a:r>
          </a:p>
        </p:txBody>
      </p:sp>
      <p:sp>
        <p:nvSpPr>
          <p:cNvPr id="33" name="Oval 32"/>
          <p:cNvSpPr/>
          <p:nvPr/>
        </p:nvSpPr>
        <p:spPr>
          <a:xfrm>
            <a:off x="8217408" y="4572000"/>
            <a:ext cx="411480" cy="41148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17408" y="4572000"/>
            <a:ext cx="411480" cy="41148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A2A4F"/>
                </a:solidFill>
                <a:latin typeface="Georgia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0328" y="4572000"/>
            <a:ext cx="2782824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6C97A"/>
                </a:solidFill>
                <a:latin typeface="Calibri"/>
              </a:rPr>
              <a:t>VERIFY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20328" y="4846320"/>
            <a:ext cx="2782824" cy="5943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Compare visual stage vs. paper records — flag mismatches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760720"/>
            <a:ext cx="11091672" cy="5029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31520" y="5760720"/>
            <a:ext cx="10725912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1">
                <a:solidFill>
                  <a:srgbClr val="1A2A4F"/>
                </a:solidFill>
                <a:latin typeface="Georgia"/>
              </a:rPr>
              <a:t>Without SRME, RECIR is accurate on records — but cannot tell if those records reflect physical reality.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21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6  ·  ARCHITECTURE  ·  SRME · 14 STAGES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SRME — The 14 Construction Stages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From excavation to occupancy — every stage a discrete, automatically-verifiable risk checkpoint.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5440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5029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Georgia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011680"/>
            <a:ext cx="21031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Pre-Construction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011680"/>
            <a:ext cx="25603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3F4D6B"/>
                </a:solidFill>
                <a:latin typeface="Calibri"/>
              </a:rPr>
              <a:t>Permits &amp; approvals issued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5440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2560320"/>
            <a:ext cx="5029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2560320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560320"/>
            <a:ext cx="21031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Excavation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2560320"/>
            <a:ext cx="25603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3F4D6B"/>
                </a:solidFill>
                <a:latin typeface="Calibri"/>
              </a:rPr>
              <a:t>Verifies actual commencement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08960"/>
            <a:ext cx="5440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3108960"/>
            <a:ext cx="5029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3108960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Georgia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108960"/>
            <a:ext cx="21031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Piles &amp; Monolithic Belt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7560" y="3108960"/>
            <a:ext cx="25603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3F4D6B"/>
                </a:solidFill>
                <a:latin typeface="Calibri"/>
              </a:rPr>
              <a:t>Structural integrity baseline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657600"/>
            <a:ext cx="5440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3657600"/>
            <a:ext cx="5029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3657600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Georgia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657600"/>
            <a:ext cx="21031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Foundation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3657600"/>
            <a:ext cx="25603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3F4D6B"/>
                </a:solidFill>
                <a:latin typeface="Calibri"/>
              </a:rPr>
              <a:t>Below-grade structure complete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206240"/>
            <a:ext cx="5440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4206240"/>
            <a:ext cx="5029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8640" y="4206240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Georgia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206240"/>
            <a:ext cx="21031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Building Frames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37560" y="4206240"/>
            <a:ext cx="25603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3F4D6B"/>
                </a:solidFill>
                <a:latin typeface="Calibri"/>
              </a:rPr>
              <a:t>Most significant capital deployment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754880"/>
            <a:ext cx="5440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48640" y="4754880"/>
            <a:ext cx="5029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4754880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Georgia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4754880"/>
            <a:ext cx="21031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Floor Slabs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7560" y="4754880"/>
            <a:ext cx="25603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3F4D6B"/>
                </a:solidFill>
                <a:latin typeface="Calibri"/>
              </a:rPr>
              <a:t>Vertical progress measurable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303520"/>
            <a:ext cx="5440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48640" y="5303520"/>
            <a:ext cx="5029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8640" y="5303520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Georgia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8720" y="5303520"/>
            <a:ext cx="21031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Walls &amp; Partitions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37560" y="5303520"/>
            <a:ext cx="25603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3F4D6B"/>
                </a:solidFill>
                <a:latin typeface="Calibri"/>
              </a:rPr>
              <a:t>Enclosure begins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72200" y="2011680"/>
            <a:ext cx="5440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172200" y="2011680"/>
            <a:ext cx="5029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72200" y="2011680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Georgia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12280" y="2011680"/>
            <a:ext cx="21031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Roofing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61120" y="2011680"/>
            <a:ext cx="25603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3F4D6B"/>
                </a:solidFill>
                <a:latin typeface="Calibri"/>
              </a:rPr>
              <a:t>Weather-tight envelope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2560320"/>
            <a:ext cx="5440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172200" y="2560320"/>
            <a:ext cx="5029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172200" y="2560320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Georgia"/>
              </a:rPr>
              <a:t>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12280" y="2560320"/>
            <a:ext cx="21031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Façade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2560320"/>
            <a:ext cx="25603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3F4D6B"/>
                </a:solidFill>
                <a:latin typeface="Calibri"/>
              </a:rPr>
              <a:t>External finishing &amp; cladding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72200" y="3108960"/>
            <a:ext cx="5440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172200" y="3108960"/>
            <a:ext cx="5029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172200" y="3108960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Georgia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12280" y="3108960"/>
            <a:ext cx="21031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MEP Systems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0" y="3108960"/>
            <a:ext cx="25603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3F4D6B"/>
                </a:solidFill>
                <a:latin typeface="Calibri"/>
              </a:rPr>
              <a:t>Mechanical · Electrical · Plumbing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72200" y="3657600"/>
            <a:ext cx="5440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172200" y="3657600"/>
            <a:ext cx="5029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172200" y="3657600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Georgia"/>
              </a:rPr>
              <a:t>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12280" y="3657600"/>
            <a:ext cx="21031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Interior Finishing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61120" y="3657600"/>
            <a:ext cx="25603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3F4D6B"/>
                </a:solidFill>
                <a:latin typeface="Calibri"/>
              </a:rPr>
              <a:t>Final layout &amp; fittings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72200" y="4206240"/>
            <a:ext cx="5440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6172200" y="4206240"/>
            <a:ext cx="5029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172200" y="4206240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Georgia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12280" y="4206240"/>
            <a:ext cx="21031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Quality Inspection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61120" y="4206240"/>
            <a:ext cx="25603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3F4D6B"/>
                </a:solidFill>
                <a:latin typeface="Calibri"/>
              </a:rPr>
              <a:t>Pre-handover compliance check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72200" y="4754880"/>
            <a:ext cx="5440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6172200" y="4754880"/>
            <a:ext cx="5029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172200" y="4754880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Georgia"/>
              </a:rPr>
              <a:t>13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12280" y="4754880"/>
            <a:ext cx="21031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Final Approval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61120" y="4754880"/>
            <a:ext cx="25603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3F4D6B"/>
                </a:solidFill>
                <a:latin typeface="Calibri"/>
              </a:rPr>
              <a:t>Form 4 / occupancy permit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5303520"/>
            <a:ext cx="5440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6172200" y="5303520"/>
            <a:ext cx="5029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172200" y="5303520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Georgia"/>
              </a:rPr>
              <a:t>14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12280" y="5303520"/>
            <a:ext cx="21031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2A4F"/>
                </a:solidFill>
                <a:latin typeface="Georgia"/>
              </a:rPr>
              <a:t>Occupancy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61120" y="5303520"/>
            <a:ext cx="25603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3F4D6B"/>
                </a:solidFill>
                <a:latin typeface="Calibri"/>
              </a:rPr>
              <a:t>Asset operational; risk transfers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8640" y="6080760"/>
            <a:ext cx="11091672" cy="45720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731520" y="6080760"/>
            <a:ext cx="10725912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1">
                <a:solidFill>
                  <a:srgbClr val="1A2A4F"/>
                </a:solidFill>
                <a:latin typeface="Georgia"/>
              </a:rPr>
              <a:t>Granular risk detection: each transition is a binary, image-verifiable event — no human reporting bias.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22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6  ·  ARCHITECTURE  ·  SRME ·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SRME — Compliance-by-Design (GDPR)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Computer vision trained on structures — not on people. Independent digital audit, zero biometric exposure.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544068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5440680" cy="548640"/>
          </a:xfrm>
          <a:prstGeom prst="rect">
            <a:avLst/>
          </a:prstGeom>
          <a:solidFill>
            <a:srgbClr val="2E7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544068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✓  WHAT SRME IS TRAINED TO IDENTIFY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971800"/>
            <a:ext cx="118872" cy="118872"/>
          </a:xfrm>
          <a:prstGeom prst="ellipse">
            <a:avLst/>
          </a:prstGeom>
          <a:solidFill>
            <a:srgbClr val="2E7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2880360"/>
            <a:ext cx="475488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Foundations · piles · structural elements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474720"/>
            <a:ext cx="118872" cy="118872"/>
          </a:xfrm>
          <a:prstGeom prst="ellipse">
            <a:avLst/>
          </a:prstGeom>
          <a:solidFill>
            <a:srgbClr val="2E7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3383280"/>
            <a:ext cx="475488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Walls · slabs · roofs · façade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977640"/>
            <a:ext cx="118872" cy="118872"/>
          </a:xfrm>
          <a:prstGeom prst="ellipse">
            <a:avLst/>
          </a:prstGeom>
          <a:solidFill>
            <a:srgbClr val="2E7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3886200"/>
            <a:ext cx="475488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Construction-stage transitions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480560"/>
            <a:ext cx="118872" cy="118872"/>
          </a:xfrm>
          <a:prstGeom prst="ellipse">
            <a:avLst/>
          </a:prstGeom>
          <a:solidFill>
            <a:srgbClr val="2E7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4389120"/>
            <a:ext cx="475488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Equipment positioning (cranes, excavators)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983480"/>
            <a:ext cx="118872" cy="118872"/>
          </a:xfrm>
          <a:prstGeom prst="ellipse">
            <a:avLst/>
          </a:prstGeom>
          <a:solidFill>
            <a:srgbClr val="2E7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4892040"/>
            <a:ext cx="475488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Material delivery &amp; storage zones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2103120"/>
            <a:ext cx="544068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2103120"/>
            <a:ext cx="5440680" cy="54864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2200" y="2103120"/>
            <a:ext cx="544068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✗  WHAT SRME DOES NOT COLLECT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2880360"/>
            <a:ext cx="18288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B03A2E"/>
                </a:solidFill>
                <a:latin typeface="Calibri"/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880360"/>
            <a:ext cx="475488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Workers' faces or biometric features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3383280"/>
            <a:ext cx="18288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B03A2E"/>
                </a:solidFill>
                <a:latin typeface="Calibri"/>
              </a:rPr>
              <a:t>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383280"/>
            <a:ext cx="475488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License plates · personal identifiers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3886200"/>
            <a:ext cx="18288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B03A2E"/>
                </a:solidFill>
                <a:latin typeface="Calibri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886200"/>
            <a:ext cx="475488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Voice or audio recordings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4389120"/>
            <a:ext cx="18288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B03A2E"/>
                </a:solidFill>
                <a:latin typeface="Calibri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4389120"/>
            <a:ext cx="475488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Private property interiors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4892040"/>
            <a:ext cx="18288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B03A2E"/>
                </a:solidFill>
                <a:latin typeface="Calibri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892040"/>
            <a:ext cx="475488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Any data falling under GDPR Art. 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532120"/>
            <a:ext cx="11091672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5532120"/>
            <a:ext cx="10725912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E6C97A"/>
                </a:solidFill>
                <a:latin typeface="Calibri"/>
              </a:rPr>
              <a:t>GDPR (Art. 9 · special-category data)  ·  EU AI Act Art. 13 (transparency)  ·  EU AI Act Art. 14 (human oversight)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126480"/>
            <a:ext cx="11091672" cy="41148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1520" y="6126480"/>
            <a:ext cx="10725912" cy="41148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1">
                <a:solidFill>
                  <a:srgbClr val="1A2A4F"/>
                </a:solidFill>
                <a:latin typeface="Georgia"/>
              </a:rPr>
              <a:t>Independent digital audit of construction progress — GDPR-aligned by design — neutralizes legal exposure.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23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7  ·  APPLICATION  ·  ILLUSTRATIVE SCENARIO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Illustrative Risk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A worked example — how a regulatory change propagates through the framework.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5440680" cy="36576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544068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E6C97A"/>
                </a:solidFill>
                <a:latin typeface="Calibri"/>
              </a:rPr>
              <a:t>SCENARIO  ·  REGULATORY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68880"/>
            <a:ext cx="54406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2468880"/>
            <a:ext cx="91440" cy="11887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560320"/>
            <a:ext cx="45720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560320"/>
            <a:ext cx="4617720" cy="25603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834640"/>
            <a:ext cx="461772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Mid-rise residential project · Tel Aviv outer-ring · Pre-construction stage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310128"/>
            <a:ext cx="461772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1A2A4F"/>
                </a:solidFill>
                <a:latin typeface="Calibri"/>
              </a:rPr>
              <a:t>TRS  =  0.42  (Moderate)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730752"/>
            <a:ext cx="54406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3730752"/>
            <a:ext cx="91440" cy="11887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22192"/>
            <a:ext cx="45720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22192"/>
            <a:ext cx="4617720" cy="25603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TRIGGER EVENT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096512"/>
            <a:ext cx="461772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Municipal council updates zoning ordinance — added flood-zone overlay restricts ground-floor occupancy.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572000"/>
            <a:ext cx="461772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1A2A4F"/>
                </a:solidFill>
                <a:latin typeface="Calibri"/>
              </a:rPr>
              <a:t>Affected feature: Zoning index · Land-use restrictions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992624"/>
            <a:ext cx="54406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4992624"/>
            <a:ext cx="91440" cy="11887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084064"/>
            <a:ext cx="45720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084064"/>
            <a:ext cx="4617720" cy="25603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MODEL RE-EVALUATION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358384"/>
            <a:ext cx="461772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Updated inputs propagated through HGBRg · SHAP recomputes feature attributions for the affected record.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833872"/>
            <a:ext cx="461772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1A2A4F"/>
                </a:solidFill>
                <a:latin typeface="Calibri"/>
              </a:rPr>
              <a:t>TRS  =  0.71  (Elevated)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9632" y="2011680"/>
            <a:ext cx="5440680" cy="36576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99632" y="2011680"/>
            <a:ext cx="544068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E6C97A"/>
                </a:solidFill>
                <a:latin typeface="Calibri"/>
              </a:rPr>
              <a:t>SYSTEM RESPONSE  ·  EXPLAINABLE OUTPUT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2514600"/>
            <a:ext cx="25374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99632" y="2587752"/>
            <a:ext cx="253746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E788E"/>
                </a:solidFill>
                <a:latin typeface="Calibri"/>
              </a:rPr>
              <a:t>BEFORE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99632" y="2688336"/>
            <a:ext cx="25374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 i="0" dirty="0">
                <a:solidFill>
                  <a:srgbClr val="2E7D55"/>
                </a:solidFill>
                <a:latin typeface="Georgia"/>
              </a:rPr>
              <a:t>0.42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9632" y="3136392"/>
            <a:ext cx="253746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1">
                <a:solidFill>
                  <a:srgbClr val="3F4D6B"/>
                </a:solidFill>
                <a:latin typeface="Calibri"/>
              </a:rPr>
              <a:t>Moderate · Auto-pass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2812" y="2834640"/>
            <a:ext cx="27432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C9A14A"/>
                </a:solidFill>
                <a:latin typeface="Georgia"/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02852" y="2514600"/>
            <a:ext cx="25374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D49C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02852" y="2587752"/>
            <a:ext cx="253746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C9A14A"/>
                </a:solidFill>
                <a:latin typeface="Calibri"/>
              </a:rPr>
              <a:t>AFTER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02852" y="2660904"/>
            <a:ext cx="25374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 i="0" dirty="0">
                <a:solidFill>
                  <a:srgbClr val="D49C3D"/>
                </a:solidFill>
                <a:latin typeface="Georgia"/>
              </a:rPr>
              <a:t>0.71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02852" y="3136392"/>
            <a:ext cx="253746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1">
                <a:solidFill>
                  <a:srgbClr val="D49C3D"/>
                </a:solidFill>
                <a:latin typeface="Calibri"/>
              </a:rPr>
              <a:t>Elevated · Review required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9632" y="3520440"/>
            <a:ext cx="54406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199632" y="3520440"/>
            <a:ext cx="91440" cy="566928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82512" y="3520440"/>
            <a:ext cx="457200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85432" y="3575304"/>
            <a:ext cx="4663440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SHAP Attribution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85432" y="3776472"/>
            <a:ext cx="46634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F4D6B"/>
                </a:solidFill>
                <a:latin typeface="Calibri"/>
              </a:rPr>
              <a:t>Zoning index contribution rises from 4% to 19% — largest single Δ in the feature vector.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9632" y="4142232"/>
            <a:ext cx="54406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199632" y="4142232"/>
            <a:ext cx="91440" cy="566928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382512" y="4142232"/>
            <a:ext cx="457200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A2A4F"/>
                </a:solidFill>
                <a:latin typeface="Georgia"/>
              </a:rPr>
              <a:t>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85432" y="4197096"/>
            <a:ext cx="4663440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Human-Review Trigger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85432" y="4398264"/>
            <a:ext cx="46634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F4D6B"/>
                </a:solidFill>
                <a:latin typeface="Calibri"/>
              </a:rPr>
              <a:t>TRS crosses 0.65 threshold → record flagged for manual review by certified analyst.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99632" y="4764024"/>
            <a:ext cx="54406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199632" y="4764024"/>
            <a:ext cx="91440" cy="566928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885432" y="4818888"/>
            <a:ext cx="4663440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Audit Log Entry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85432" y="5020056"/>
            <a:ext cx="46634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F4D6B"/>
                </a:solidFill>
                <a:latin typeface="Calibri"/>
              </a:rPr>
              <a:t>Decision artifact stored: input snapshot, weights, SHAP values, regulatory citation, timestamp.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99632" y="5440680"/>
            <a:ext cx="5440680" cy="841248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36792" y="5486400"/>
            <a:ext cx="5166360" cy="2286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E6C97A"/>
                </a:solidFill>
                <a:latin typeface="Calibri"/>
              </a:rPr>
              <a:t>SCENARIO OUTCOME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36792" y="5715000"/>
            <a:ext cx="516636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The framework re-prices the asset, flags the change for human review, and produces an audit-ready explanation chain.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6263640"/>
            <a:ext cx="11091672" cy="384048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31520" y="6263640"/>
            <a:ext cx="10725912" cy="38404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1">
                <a:solidFill>
                  <a:srgbClr val="1A2A4F"/>
                </a:solidFill>
                <a:latin typeface="Georgia"/>
              </a:rPr>
              <a:t>Illustrative only — not a prediction. The framework supports analyst judgment; it does not replace legal or regulatory review.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24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8  ·  CONCLUSIONS  ·  PUBLICATIONS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Publications in Indexed Journals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Peer-reviewed validation of the RECIR + SRME framework — two indexed journals.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11091672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182880" cy="192024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2194560" cy="8686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1" i="0">
                <a:solidFill>
                  <a:srgbClr val="1A2A4F"/>
                </a:solidFill>
                <a:latin typeface="Georgia"/>
              </a:rPr>
              <a:t>2025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200400"/>
            <a:ext cx="2011680" cy="36576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3200400"/>
            <a:ext cx="201168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A2A4F"/>
                </a:solidFill>
                <a:latin typeface="Calibri"/>
              </a:rPr>
              <a:t>★  JCR Q1 + SCOPUS Q1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286000"/>
            <a:ext cx="82296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9A14A"/>
                </a:solidFill>
                <a:latin typeface="Calibri"/>
              </a:rPr>
              <a:t>MATHEMATICS (MDPI)  ·  JCR Q1  ·  SCOPUS Q1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606040"/>
            <a:ext cx="8229600" cy="8686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A4F"/>
                </a:solidFill>
                <a:latin typeface="Georgia"/>
              </a:rPr>
              <a:t>Multi-Dimensional AI-Based Modeling of Real Estate Investment Risk: A Regulatory and Explainable Framework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520440"/>
            <a:ext cx="82296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3F4D6B"/>
                </a:solidFill>
                <a:latin typeface="Georgia"/>
              </a:rPr>
              <a:t>Lalum, A., Caridad López del Río, L., Ceular Villamandos, 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60520"/>
            <a:ext cx="11091672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4160520"/>
            <a:ext cx="91440" cy="169164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4343400"/>
            <a:ext cx="2194560" cy="6858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1A2A4F"/>
                </a:solidFill>
                <a:latin typeface="Georgia"/>
              </a:rPr>
              <a:t>2024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074920"/>
            <a:ext cx="1371600" cy="3200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074920"/>
            <a:ext cx="1371600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E6C97A"/>
                </a:solidFill>
                <a:latin typeface="Calibri"/>
              </a:rPr>
              <a:t>Scopus Q3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4343400"/>
            <a:ext cx="82296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SN BUSINESS &amp; ECONOMICS  ·  SPRINGER NATURE  ·  Scopus Q3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663440"/>
            <a:ext cx="8229600" cy="7315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A2A4F"/>
                </a:solidFill>
                <a:latin typeface="Georgia"/>
              </a:rPr>
              <a:t>Synthetic Reality Mapping of Real Estate using Deep Learning Object-Recognition Algorithms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440680"/>
            <a:ext cx="82296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3F4D6B"/>
                </a:solidFill>
                <a:latin typeface="Georgia"/>
              </a:rPr>
              <a:t>Lalum, A. et 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5989320"/>
            <a:ext cx="10725912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1">
                <a:solidFill>
                  <a:srgbClr val="E6C97A"/>
                </a:solidFill>
                <a:latin typeface="Georgia"/>
              </a:rPr>
              <a:t>Two indexed publications · 2025 (JCR Q1 + Scopus Q1) and 2024 (Scopus Q3) · independent peer review.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25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8  ·  CONCLUSIONS  · 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Research Limitations &amp; Mitigations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Honest boundaries — each becomes the seed of the next research direction.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546354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31520" y="2286000"/>
            <a:ext cx="502920" cy="502920"/>
          </a:xfrm>
          <a:prstGeom prst="ellipse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6C97A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331720"/>
            <a:ext cx="445770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A2A4F"/>
                </a:solidFill>
                <a:latin typeface="Georgia"/>
              </a:rPr>
              <a:t>JURISDICTIONAL 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834640"/>
            <a:ext cx="445770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Calibrated on US data (AHS + WDI). Application to Spain, UK, or LATAM requires re-validation.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17320" y="3520439"/>
            <a:ext cx="4366260" cy="320040"/>
          </a:xfrm>
          <a:prstGeom prst="rect">
            <a:avLst/>
          </a:prstGeom>
          <a:solidFill>
            <a:srgbClr val="F7F2E8"/>
          </a:solidFill>
          <a:ln w="9525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17320" y="3520439"/>
            <a:ext cx="4366260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C9A14A"/>
                </a:solidFill>
                <a:latin typeface="Calibri"/>
              </a:rPr>
              <a:t>Geographic Generalization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6772" y="2103120"/>
            <a:ext cx="546354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359652" y="2286000"/>
            <a:ext cx="502920" cy="502920"/>
          </a:xfrm>
          <a:prstGeom prst="ellipse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9652" y="2286000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6C97A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5452" y="2331720"/>
            <a:ext cx="445770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A2A4F"/>
                </a:solidFill>
                <a:latin typeface="Georgia"/>
              </a:rPr>
              <a:t>TEMPORAL 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5452" y="2834640"/>
            <a:ext cx="445770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2015–2023 panel. Future structural breaks demand periodic re-training and drift recalibration.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5452" y="3520439"/>
            <a:ext cx="4366260" cy="320040"/>
          </a:xfrm>
          <a:prstGeom prst="rect">
            <a:avLst/>
          </a:prstGeom>
          <a:solidFill>
            <a:srgbClr val="F7F2E8"/>
          </a:solidFill>
          <a:ln w="9525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45452" y="3520439"/>
            <a:ext cx="4366260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C9A14A"/>
                </a:solidFill>
                <a:latin typeface="Calibri"/>
              </a:rPr>
              <a:t>9-Year Horizon · Drift Monitoring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142231"/>
            <a:ext cx="546354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31520" y="4325111"/>
            <a:ext cx="502920" cy="502920"/>
          </a:xfrm>
          <a:prstGeom prst="ellipse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4325111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6C97A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370831"/>
            <a:ext cx="445770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A2A4F"/>
                </a:solidFill>
                <a:latin typeface="Georgia"/>
              </a:rPr>
              <a:t>DATA SCOPE &amp; PANEL SIZE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4873751"/>
            <a:ext cx="445770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N = 11 produced strong agreement (κ = 0.82). Broader panel + private-lender records would tighten weights.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17320" y="5559550"/>
            <a:ext cx="4366260" cy="320040"/>
          </a:xfrm>
          <a:prstGeom prst="rect">
            <a:avLst/>
          </a:prstGeom>
          <a:solidFill>
            <a:srgbClr val="F7F2E8"/>
          </a:solidFill>
          <a:ln w="9525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417320" y="5559550"/>
            <a:ext cx="4366260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C9A14A"/>
                </a:solidFill>
                <a:latin typeface="Calibri"/>
              </a:rPr>
              <a:t>Public Data Only · N = 11 Panel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6772" y="4142231"/>
            <a:ext cx="546354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359652" y="4325111"/>
            <a:ext cx="502920" cy="502920"/>
          </a:xfrm>
          <a:prstGeom prst="ellipse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59652" y="4325111"/>
            <a:ext cx="502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6C97A"/>
                </a:solidFill>
                <a:latin typeface="Calibr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5452" y="4370831"/>
            <a:ext cx="445770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A2A4F"/>
                </a:solidFill>
                <a:latin typeface="Georgia"/>
              </a:rPr>
              <a:t>SRME IMAGE BIAS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5452" y="4873751"/>
            <a:ext cx="445770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Training corpus skews residential. Cross-typology validation required for industrial and infrastructure.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45452" y="5559550"/>
            <a:ext cx="4366260" cy="320040"/>
          </a:xfrm>
          <a:prstGeom prst="rect">
            <a:avLst/>
          </a:prstGeom>
          <a:solidFill>
            <a:srgbClr val="F7F2E8"/>
          </a:solidFill>
          <a:ln w="9525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045452" y="5559550"/>
            <a:ext cx="4366260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C9A14A"/>
                </a:solidFill>
                <a:latin typeface="Calibri"/>
              </a:rPr>
              <a:t>Residential-Skewed Corpus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080760"/>
            <a:ext cx="11091672" cy="45720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1520" y="6080760"/>
            <a:ext cx="10725912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1">
                <a:solidFill>
                  <a:srgbClr val="1A2A4F"/>
                </a:solidFill>
                <a:latin typeface="Georgia"/>
              </a:rPr>
              <a:t>Acknowledged boundaries are the seedbed of the future research agenda — each limitation maps to a concrete direction.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26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8  ·  CONCLUSIONS  ·  FUTURE RESEARCH  ·  MORAL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Decisions Under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3F4D6B"/>
                </a:solidFill>
                <a:latin typeface="Georgia"/>
              </a:rPr>
              <a:t>How do we translate human morality into executable code? — the Moral Machine paradox.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11091672" cy="64008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109728" cy="64008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975104"/>
            <a:ext cx="105156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6C97A"/>
                </a:solidFill>
                <a:latin typeface="Calibri"/>
              </a:rPr>
              <a:t>THE CORE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515600" cy="320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Calibri"/>
              </a:rPr>
              <a:t>When unavoidable harm becomes a programmed decision — how does law, economics, and ethics respond?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43200"/>
            <a:ext cx="3575304" cy="2606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2743200"/>
            <a:ext cx="3575304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2743200"/>
            <a:ext cx="3575304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E6C97A"/>
                </a:solidFill>
                <a:latin typeface="Georgia"/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83280"/>
            <a:ext cx="3209544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Vulnerability Weighting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31920"/>
            <a:ext cx="3209544" cy="10972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Legal frameworks for prioritizing diverse road users — child, elderly, parent with infant — in emergency scenarios.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983480"/>
            <a:ext cx="3209544" cy="274320"/>
          </a:xfrm>
          <a:prstGeom prst="rect">
            <a:avLst/>
          </a:prstGeom>
          <a:solidFill>
            <a:srgbClr val="EEE7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9544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A2A4F"/>
                </a:solidFill>
                <a:latin typeface="Calibri"/>
              </a:rPr>
              <a:t>Legal · Ethics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06824" y="2743200"/>
            <a:ext cx="3575304" cy="2606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06824" y="2743200"/>
            <a:ext cx="3575304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06824" y="2743200"/>
            <a:ext cx="3575304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E6C97A"/>
                </a:solidFill>
                <a:latin typeface="Georgia"/>
              </a:rPr>
              <a:t>II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3383280"/>
            <a:ext cx="3209544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Judicial Auditability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3931920"/>
            <a:ext cx="3209544" cy="10972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Designing protocols for courts to cross-examine black-box accident decisions post-collision.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9704" y="4983480"/>
            <a:ext cx="3209544" cy="274320"/>
          </a:xfrm>
          <a:prstGeom prst="rect">
            <a:avLst/>
          </a:prstGeom>
          <a:solidFill>
            <a:srgbClr val="EEE7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89704" y="4983480"/>
            <a:ext cx="3209544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A2A4F"/>
                </a:solidFill>
                <a:latin typeface="Calibri"/>
              </a:rPr>
              <a:t>Procedural Law · XAI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5008" y="2743200"/>
            <a:ext cx="3575304" cy="2606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65008" y="2743200"/>
            <a:ext cx="3575304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65008" y="2743200"/>
            <a:ext cx="3575304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E6C97A"/>
                </a:solidFill>
                <a:latin typeface="Georgia"/>
              </a:rPr>
              <a:t>III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383280"/>
            <a:ext cx="3209544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Market Legitimacy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7888" y="3931920"/>
            <a:ext cx="3209544" cy="10972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Establishing socio-economic pricing for "ethical" algorithmic choices and their public acceptance.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47888" y="4983480"/>
            <a:ext cx="3209544" cy="274320"/>
          </a:xfrm>
          <a:prstGeom prst="rect">
            <a:avLst/>
          </a:prstGeom>
          <a:solidFill>
            <a:srgbClr val="EEE7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47888" y="4983480"/>
            <a:ext cx="3209544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A2A4F"/>
                </a:solidFill>
                <a:latin typeface="Calibri"/>
              </a:rPr>
              <a:t>Economics · Public Policy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532120"/>
            <a:ext cx="11091672" cy="86868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48640" y="5532120"/>
            <a:ext cx="109728" cy="86868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" y="5577840"/>
            <a:ext cx="457200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C9A14A"/>
                </a:solidFill>
                <a:latin typeface="Georgia"/>
              </a:rPr>
              <a:t>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5880" y="5669280"/>
            <a:ext cx="10241280" cy="5943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1">
                <a:solidFill>
                  <a:srgbClr val="FFFFFF"/>
                </a:solidFill>
                <a:latin typeface="Georgia"/>
              </a:rPr>
              <a:t>The challenge of the next decade is not teaching a machine to see, but teaching it how to choose when all paths carry risk.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355080"/>
            <a:ext cx="11091672" cy="2286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1">
                <a:solidFill>
                  <a:srgbClr val="E6C97A"/>
                </a:solidFill>
                <a:latin typeface="Georgia"/>
              </a:rPr>
              <a:t>— Concluding Insight —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27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8  ·  CONCLUSIONS  ·  FUTURE RESEARCH  ·  ILLUSTRATIVE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5486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2A4F"/>
                </a:solidFill>
                <a:latin typeface="Georgia"/>
              </a:rPr>
              <a:t>The Moral Machine — An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3F4D6B"/>
                </a:solidFill>
                <a:latin typeface="Georgia"/>
              </a:rPr>
              <a:t>A single intersection. Three lives. One algorithmic decision.</a:t>
            </a:r>
          </a:p>
        </p:txBody>
      </p:sp>
      <p:pic>
        <p:nvPicPr>
          <p:cNvPr id="8" name="Picture 7" descr="moral_machine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7772400" cy="43708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503920" y="1828800"/>
            <a:ext cx="3136392" cy="36576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03920" y="1828800"/>
            <a:ext cx="3136392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E6C97A"/>
                </a:solidFill>
                <a:latin typeface="Calibri"/>
              </a:rPr>
              <a:t>THE DILEMMA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2286000"/>
            <a:ext cx="3136392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503920" y="2286000"/>
            <a:ext cx="91440" cy="86868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68512" y="2359152"/>
            <a:ext cx="36576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B03A2E"/>
                </a:solidFill>
                <a:latin typeface="Georgia"/>
              </a:rPr>
              <a:t>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2359152"/>
            <a:ext cx="2542032" cy="25603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ELDERLY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2615184"/>
            <a:ext cx="2542032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3F4D6B"/>
                </a:solidFill>
                <a:latin typeface="Calibri"/>
              </a:rPr>
              <a:t>Right of way · low mobility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3227832"/>
            <a:ext cx="3136392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503920" y="3227832"/>
            <a:ext cx="91440" cy="868680"/>
          </a:xfrm>
          <a:prstGeom prst="rect">
            <a:avLst/>
          </a:prstGeom>
          <a:solidFill>
            <a:srgbClr val="D49C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68512" y="3300984"/>
            <a:ext cx="36576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D49C3D"/>
                </a:solidFill>
                <a:latin typeface="Georgia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3300984"/>
            <a:ext cx="2542032" cy="25603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CHILD AT PLAY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3557016"/>
            <a:ext cx="2542032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3F4D6B"/>
                </a:solidFill>
                <a:latin typeface="Calibri"/>
              </a:rPr>
              <a:t>Center of road · ball pursuit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4169664"/>
            <a:ext cx="3136392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503920" y="4169664"/>
            <a:ext cx="91440" cy="868680"/>
          </a:xfrm>
          <a:prstGeom prst="rect">
            <a:avLst/>
          </a:prstGeom>
          <a:solidFill>
            <a:srgbClr val="2A3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68512" y="4242816"/>
            <a:ext cx="36576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2A3D5F"/>
                </a:solidFill>
                <a:latin typeface="Georgia"/>
              </a:rPr>
              <a:t>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4242816"/>
            <a:ext cx="2542032" cy="25603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PARENT + INFANT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4498848"/>
            <a:ext cx="2542032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3F4D6B"/>
                </a:solidFill>
                <a:latin typeface="Calibri"/>
              </a:rPr>
              <a:t>Crosswalk · vulnerable group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03920" y="5166360"/>
            <a:ext cx="3136392" cy="1033271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503920" y="5166360"/>
            <a:ext cx="91440" cy="1033271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68512" y="5257800"/>
            <a:ext cx="2907792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E6C97A"/>
                </a:solidFill>
                <a:latin typeface="Calibri"/>
              </a:rPr>
              <a:t>THE 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68512" y="5513832"/>
            <a:ext cx="290779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1">
                <a:solidFill>
                  <a:srgbClr val="FFFFFF"/>
                </a:solidFill>
                <a:latin typeface="Georgia"/>
              </a:rPr>
              <a:t>Whose life does the algorithm value — and on what legal, economic, and ethical basis?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6E788E"/>
                </a:solidFill>
                <a:latin typeface="Calibri"/>
              </a:rPr>
              <a:t>Illustrative scenario  ·  Drawn from the canonical "Moral Machine" experiment (MIT Media Lab) — adapted for legal-economic analysis.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28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8  ·  CONCLUSIONS  ·  FUTURE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Future Research Directions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Three near-term trajectories + one strategic frontier.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35763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35763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35763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E6C97A"/>
                </a:solidFill>
                <a:latin typeface="Georgia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97480"/>
            <a:ext cx="32105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C9A14A"/>
                </a:solidFill>
                <a:latin typeface="Calibri"/>
              </a:rPr>
              <a:t>TEMPORAL EXTENSION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321056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Update the 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29000"/>
            <a:ext cx="302768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3F4D6B"/>
                </a:solidFill>
                <a:latin typeface="Calibri"/>
              </a:rPr>
              <a:t>Refresh the panel with post-2023 data to capture recent regulatory shifts and new market behaviour.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07840" y="2103120"/>
            <a:ext cx="35763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07840" y="2103120"/>
            <a:ext cx="35763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07840" y="2103120"/>
            <a:ext cx="35763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E6C97A"/>
                </a:solidFill>
                <a:latin typeface="Georgia"/>
              </a:rPr>
              <a:t>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0720" y="2697480"/>
            <a:ext cx="32105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C9A14A"/>
                </a:solidFill>
                <a:latin typeface="Calibri"/>
              </a:rPr>
              <a:t>ARCHITECTURE REFINEMENT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0720" y="2971800"/>
            <a:ext cx="321056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Refine the RECIR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2160" y="3429000"/>
            <a:ext cx="302768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3F4D6B"/>
                </a:solidFill>
                <a:latin typeface="Calibri"/>
              </a:rPr>
              <a:t>Iterative refinement of the seven-index architecture: re-calibrate weights, sharpen XAI, tighten regulatory mapping.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67040" y="2103120"/>
            <a:ext cx="35763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67040" y="2103120"/>
            <a:ext cx="3576320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67040" y="2103120"/>
            <a:ext cx="35763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E6C97A"/>
                </a:solidFill>
                <a:latin typeface="Georgia"/>
              </a:rPr>
              <a:t>III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9920" y="2697480"/>
            <a:ext cx="32105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C9A14A"/>
                </a:solidFill>
                <a:latin typeface="Calibri"/>
              </a:rPr>
              <a:t>PARSIMONY OPTIMIZATION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9920" y="2971800"/>
            <a:ext cx="321056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Subset of Variables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1360" y="3429000"/>
            <a:ext cx="302768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3F4D6B"/>
                </a:solidFill>
                <a:latin typeface="Calibri"/>
              </a:rPr>
              <a:t>Identify a focused subset of explanatory variables to improve parsimony without sacrificing accuracy.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526280"/>
            <a:ext cx="11091672" cy="1645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4526280"/>
            <a:ext cx="182880" cy="16459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68680" y="4709160"/>
            <a:ext cx="2011680" cy="36576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709160"/>
            <a:ext cx="201168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A2A4F"/>
                </a:solidFill>
                <a:latin typeface="Calibri"/>
              </a:rPr>
              <a:t>★  STRATEGIC FRONTIER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4617720"/>
            <a:ext cx="1188720" cy="5943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600" b="1" i="0">
                <a:solidFill>
                  <a:srgbClr val="E6C97A"/>
                </a:solidFill>
                <a:latin typeface="Georgia"/>
              </a:rPr>
              <a:t>IV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C9A14A"/>
                </a:solidFill>
                <a:latin typeface="Georgia"/>
              </a:rPr>
              <a:t>AUTONOMOUS SYSTEMS — A FRONTIER FOR LAW, ECONOMICS, AND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577840"/>
            <a:ext cx="10515600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1">
                <a:solidFill>
                  <a:srgbClr val="FFFFFF"/>
                </a:solidFill>
                <a:latin typeface="Georgia"/>
              </a:rPr>
              <a:t>An in-depth investigation into the legal, economic, and technological decision-making frameworks of autonomous systems (vehicles and machinery) — a vital frontier for the future of AI integration.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6263640"/>
            <a:ext cx="11091672" cy="2743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725912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From real-estate risk to autonomous decision-making — the L&amp;E + XAI lens generalizes.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29 /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9  ·  CLARIFICATIONS  ·  PANEL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Clarifications — Anticipated Panel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Six potential lines of inquiry — each addressed with thesis-grounded evidence in the slides that follow.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3575304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7"/>
          <p:cNvSpPr/>
          <p:nvPr/>
        </p:nvSpPr>
        <p:spPr>
          <a:xfrm>
            <a:off x="548640" y="3639312"/>
            <a:ext cx="3575304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91440" cy="137160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8"/>
          <p:cNvSpPr/>
          <p:nvPr/>
        </p:nvSpPr>
        <p:spPr>
          <a:xfrm>
            <a:off x="548640" y="3639312"/>
            <a:ext cx="91440" cy="137160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2267712"/>
            <a:ext cx="777240" cy="292608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267712"/>
            <a:ext cx="777240" cy="29260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E6C97A"/>
                </a:solidFill>
                <a:latin typeface="Calibri"/>
              </a:rPr>
              <a:t>C·1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6664" y="2286000"/>
            <a:ext cx="96012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→ Slide 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06040"/>
            <a:ext cx="3209544" cy="320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OVERFITTING DEFENSE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44368"/>
            <a:ext cx="3209544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3F4D6B"/>
                </a:solidFill>
                <a:latin typeface="Calibri"/>
              </a:rPr>
              <a:t>How do we know R² = 0.9988 is not memorization?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06824" y="2103120"/>
            <a:ext cx="3575304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06824" y="2103120"/>
            <a:ext cx="91440" cy="137160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35424" y="2267712"/>
            <a:ext cx="777240" cy="292608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35424" y="2267712"/>
            <a:ext cx="777240" cy="29260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E6C97A"/>
                </a:solidFill>
                <a:latin typeface="Calibri"/>
              </a:rPr>
              <a:t>C·2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4848" y="2286000"/>
            <a:ext cx="96012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→ Slide 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2606040"/>
            <a:ext cx="3209544" cy="320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ALGORITHM SELECTION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5424" y="2944368"/>
            <a:ext cx="3209544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3F4D6B"/>
                </a:solidFill>
                <a:latin typeface="Calibri"/>
              </a:rPr>
              <a:t>Why HGBRg over 7 alternatives — was it cherry-picked?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65008" y="2103120"/>
            <a:ext cx="3575304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65008" y="2103120"/>
            <a:ext cx="91440" cy="137160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293608" y="2267712"/>
            <a:ext cx="777240" cy="292608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93608" y="2267712"/>
            <a:ext cx="777240" cy="29260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E6C97A"/>
                </a:solidFill>
                <a:latin typeface="Calibri"/>
              </a:rPr>
              <a:t>C·3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43032" y="2286000"/>
            <a:ext cx="96012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→ Slide 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2606040"/>
            <a:ext cx="3209544" cy="320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GOVERNANCE CAUSALITY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2944368"/>
            <a:ext cx="3209544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3F4D6B"/>
                </a:solidFill>
                <a:latin typeface="Calibri"/>
              </a:rPr>
              <a:t>Is governance dominance correlation or causation?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803904"/>
            <a:ext cx="777240" cy="292608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48640" y="3803904"/>
            <a:ext cx="777240" cy="29260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E6C97A"/>
                </a:solidFill>
                <a:latin typeface="Calibri"/>
              </a:rPr>
              <a:t>C·4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98064" y="3822192"/>
            <a:ext cx="96012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→ Slide 33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142232"/>
            <a:ext cx="3209544" cy="320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COMMERCIAL APPLICABILITY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4480560"/>
            <a:ext cx="3209544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3F4D6B"/>
                </a:solidFill>
                <a:latin typeface="Calibri"/>
              </a:rPr>
              <a:t>Beyond academia — who uses RECIR in practice?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6080760"/>
            <a:ext cx="11091672" cy="45720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31520" y="6080760"/>
            <a:ext cx="10725912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1">
                <a:solidFill>
                  <a:srgbClr val="E6C97A"/>
                </a:solidFill>
                <a:latin typeface="Georgia"/>
              </a:rPr>
              <a:t>Each clarification anchored in the empirical record — answers traceable to specific thesis chapters.</a:t>
            </a:r>
          </a:p>
        </p:txBody>
      </p:sp>
      <p:sp>
        <p:nvSpPr>
          <p:cNvPr id="31" name="Rectangle 7"/>
          <p:cNvSpPr/>
          <p:nvPr/>
        </p:nvSpPr>
        <p:spPr>
          <a:xfrm>
            <a:off x="4306824" y="3639312"/>
            <a:ext cx="3575304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8"/>
          <p:cNvSpPr/>
          <p:nvPr/>
        </p:nvSpPr>
        <p:spPr>
          <a:xfrm>
            <a:off x="4306824" y="3639312"/>
            <a:ext cx="91440" cy="137160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4535424" y="3803904"/>
            <a:ext cx="777240" cy="292608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535424" y="3803904"/>
            <a:ext cx="777240" cy="292608"/>
          </a:xfrm>
          <a:prstGeom prst="rect">
            <a:avLst/>
          </a:prstGeom>
          <a:noFill/>
        </p:spPr>
        <p:txBody>
          <a:bodyPr wrap="none" lIns="18288" tIns="18288" r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E6C97A"/>
                </a:solidFill>
                <a:latin typeface="Calibri"/>
              </a:rPr>
              <a:t>C·5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84848" y="3822191"/>
            <a:ext cx="960120" cy="274320"/>
          </a:xfrm>
          <a:prstGeom prst="rect">
            <a:avLst/>
          </a:prstGeom>
          <a:noFill/>
        </p:spPr>
        <p:txBody>
          <a:bodyPr wrap="none" lIns="18288" tIns="18288" rIns="18288" bIns="18288" anchor="ctr">
            <a:spAutoFit/>
          </a:bodyPr>
          <a:lstStyle/>
          <a:p>
            <a:pPr algn="r"/>
            <a:r>
              <a:rPr sz="1100" b="1">
                <a:solidFill>
                  <a:srgbClr val="C9A14A"/>
                </a:solidFill>
                <a:latin typeface="Calibri"/>
              </a:rPr>
              <a:t>→ Slide 34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5424" y="4142232"/>
            <a:ext cx="3209544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300" b="1">
                <a:solidFill>
                  <a:srgbClr val="1A2A4F"/>
                </a:solidFill>
                <a:latin typeface="Calibri"/>
              </a:rPr>
              <a:t>THREE-LAYER METHODOLOGY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35424" y="4480560"/>
            <a:ext cx="3209544" cy="5029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lnSpc>
                <a:spcPct val="120000"/>
              </a:lnSpc>
            </a:pPr>
            <a:r>
              <a:rPr sz="1100" i="1">
                <a:solidFill>
                  <a:srgbClr val="3F4D6B"/>
                </a:solidFill>
                <a:latin typeface="Calibri"/>
              </a:rPr>
              <a:t>How is R² = 0.9988 not luck? — three sequential safeguards.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65008" y="3639312"/>
            <a:ext cx="3575304" cy="1371600"/>
          </a:xfrm>
          <a:prstGeom prst="rect">
            <a:avLst/>
          </a:prstGeom>
          <a:solidFill>
            <a:srgbClr val="1B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065008" y="3639312"/>
            <a:ext cx="91440" cy="1371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293608" y="3803904"/>
            <a:ext cx="777240" cy="29260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93608" y="3803904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B1B1B"/>
                </a:solidFill>
              </a:rPr>
              <a:t>C·6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43032" y="3822192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D4AF37"/>
                </a:solidFill>
              </a:rPr>
              <a:t>→ Slide 35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93608" y="4142232"/>
            <a:ext cx="32095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4AF37"/>
                </a:solidFill>
              </a:rPr>
              <a:t>GEOGRAPHIC GENERALIZATION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93608" y="4480560"/>
            <a:ext cx="32095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DD0"/>
                </a:solidFill>
              </a:rPr>
              <a:t>How would RECIR adapt its risk weights for Spain, the UK, or Latin America?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30 /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r>
              <a:rPr sz="1300" b="1">
                <a:solidFill>
                  <a:srgbClr val="C9A14A"/>
                </a:solidFill>
                <a:latin typeface="Calibri"/>
              </a:rPr>
              <a:t>PART 9  ·  CLARIFICATION  ·  C·1 OVERFITTING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r>
              <a:rPr sz="3000" b="1">
                <a:solidFill>
                  <a:srgbClr val="1A2A4F"/>
                </a:solidFill>
                <a:latin typeface="Georgia"/>
              </a:rPr>
              <a:t>Overfitting Defense — Four Independent Checks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Five independent guards — each one would cause overfitting to surface if present.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2145792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145792" cy="384048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2145792" cy="38404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1962912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2000" b="1">
                <a:solidFill>
                  <a:srgbClr val="1A2A4F"/>
                </a:solidFill>
                <a:latin typeface="Georgia"/>
              </a:rPr>
              <a:t>1.23×10⁻⁴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1962912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C9A14A"/>
                </a:solidFill>
                <a:latin typeface="Calibri"/>
              </a:rPr>
              <a:t>NESTED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29000"/>
            <a:ext cx="1871472" cy="1325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>
                <a:solidFill>
                  <a:srgbClr val="3F4D6B"/>
                </a:solidFill>
                <a:latin typeface="Calibri"/>
              </a:rPr>
              <a:t>Cross-validation σ ≈ 1.23×10⁻⁴ — near-zero variability across 10 folds.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5872" y="2103120"/>
            <a:ext cx="2145792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85872" y="2103120"/>
            <a:ext cx="2145792" cy="384048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85872" y="2103120"/>
            <a:ext cx="2145792" cy="38404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77312" y="2560320"/>
            <a:ext cx="1962912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2000" b="1">
                <a:solidFill>
                  <a:srgbClr val="1A2A4F"/>
                </a:solidFill>
                <a:latin typeface="Georgia"/>
              </a:rPr>
              <a:t>0.011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77312" y="3108960"/>
            <a:ext cx="1962912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1000" b="1">
                <a:solidFill>
                  <a:srgbClr val="C9A14A"/>
                </a:solidFill>
                <a:latin typeface="Calibri"/>
              </a:rPr>
              <a:t>RMSE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3032" y="3429000"/>
            <a:ext cx="1871472" cy="1325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>
                <a:solidFill>
                  <a:srgbClr val="3F4D6B"/>
                </a:solidFill>
                <a:latin typeface="Calibri"/>
              </a:rPr>
              <a:t>Root-mean-square error from HGBRg validation table.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3104" y="2103120"/>
            <a:ext cx="2145792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3104" y="2103120"/>
            <a:ext cx="2145792" cy="384048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3104" y="2103120"/>
            <a:ext cx="2145792" cy="38404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4544" y="2560320"/>
            <a:ext cx="1962912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1A2A4F"/>
                </a:solidFill>
                <a:latin typeface="Georgia"/>
              </a:rPr>
              <a:t>2023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14544" y="3108960"/>
            <a:ext cx="1962912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C9A14A"/>
                </a:solidFill>
                <a:latin typeface="Calibri"/>
              </a:rPr>
              <a:t>TEMPORAL HOLDOUT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0264" y="3429000"/>
            <a:ext cx="1871472" cy="1325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Test year held out from training — 1.5 years of unseen data.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0336" y="2103120"/>
            <a:ext cx="2145792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260336" y="2103120"/>
            <a:ext cx="2145792" cy="384048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260336" y="2103120"/>
            <a:ext cx="2145792" cy="38404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Calibri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1776" y="2560320"/>
            <a:ext cx="1962912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1A2A4F"/>
                </a:solidFill>
                <a:latin typeface="Georgia"/>
              </a:rPr>
              <a:t>−0.14%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1776" y="3108960"/>
            <a:ext cx="1962912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C9A14A"/>
                </a:solidFill>
                <a:latin typeface="Calibri"/>
              </a:rPr>
              <a:t>BLACK-SWAN STRESS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97496" y="3429000"/>
            <a:ext cx="1871472" cy="1325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COVID-19 (2020) worst year. If overfitting, variance would explode.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97568" y="2103120"/>
            <a:ext cx="2145792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497568" y="2103120"/>
            <a:ext cx="2145792" cy="384048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497568" y="2103120"/>
            <a:ext cx="2145792" cy="38404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Calibri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9008" y="2560320"/>
            <a:ext cx="1962912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1A2A4F"/>
                </a:solidFill>
                <a:latin typeface="Georgia"/>
              </a:rPr>
              <a:t>ρ = 0.93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89008" y="3108960"/>
            <a:ext cx="1962912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C9A14A"/>
                </a:solidFill>
                <a:latin typeface="Calibri"/>
              </a:rPr>
              <a:t>EXPERT CONGRUENCE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4728" y="3429000"/>
            <a:ext cx="1871472" cy="1325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Independent N=11 experts converge on same ranking — no model artefact.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74920"/>
            <a:ext cx="11091672" cy="86868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31520" y="5166360"/>
            <a:ext cx="10725912" cy="320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A2A4F"/>
                </a:solidFill>
                <a:latin typeface="Calibri"/>
              </a:rPr>
              <a:t>★  NULL HYPOTHESIS REJECTED  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486400"/>
            <a:ext cx="10725912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1">
                <a:solidFill>
                  <a:srgbClr val="1A2A4F"/>
                </a:solidFill>
                <a:latin typeface="Georgia"/>
              </a:rPr>
              <a:t>If R² = 0.9988 were overfitting, at least ONE of these five independent diagnostics would fail. None do.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6080760"/>
            <a:ext cx="11091672" cy="45720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31520" y="6080760"/>
            <a:ext cx="10725912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1">
                <a:solidFill>
                  <a:srgbClr val="E6C97A"/>
                </a:solidFill>
                <a:latin typeface="Georgia"/>
              </a:rPr>
              <a:t>Construct recovery — not price forecasting. Risk patterns are stable; the high R² reflects genuine signal.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31 /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r>
              <a:rPr sz="1300" b="1">
                <a:solidFill>
                  <a:srgbClr val="C9A14A"/>
                </a:solidFill>
                <a:latin typeface="Calibri"/>
              </a:rPr>
              <a:t>PART 9  ·  CLARIFICATION  ·  C·2 ALGORITHM SELECTION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HGBRg Selection — Eight Candidates Tested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Four selection criteria · HGBRg is strongest on all four · selection is empirically justified.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11091672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11091672" cy="45720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201168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6C97A"/>
                </a:solidFill>
                <a:latin typeface="Calibri"/>
              </a:rPr>
              <a:t>ALGORITHM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011680"/>
            <a:ext cx="109728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6C97A"/>
                </a:solidFill>
                <a:latin typeface="Calibri"/>
              </a:rPr>
              <a:t>R²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011680"/>
            <a:ext cx="146304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6C97A"/>
                </a:solidFill>
                <a:latin typeface="Calibri"/>
              </a:rPr>
              <a:t>STABILITY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011680"/>
            <a:ext cx="201168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6C97A"/>
                </a:solidFill>
                <a:latin typeface="Calibri"/>
              </a:rPr>
              <a:t>XAI 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0" y="2011680"/>
            <a:ext cx="3593592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6C97A"/>
                </a:solidFill>
                <a:latin typeface="Calibri"/>
              </a:rPr>
              <a:t>OUTCOME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468880"/>
            <a:ext cx="11091672" cy="43434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2468880"/>
            <a:ext cx="20116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2A4F"/>
                </a:solidFill>
                <a:latin typeface="Georgia"/>
              </a:rPr>
              <a:t>HGBRg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468880"/>
            <a:ext cx="10972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0.9988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468880"/>
            <a:ext cx="146304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RMSE 0.011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2468880"/>
            <a:ext cx="20116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Native SHAP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0" y="2468880"/>
            <a:ext cx="3593592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★ SELECTED — strongest across all four criteria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903220"/>
            <a:ext cx="11091672" cy="434340"/>
          </a:xfrm>
          <a:prstGeom prst="rect">
            <a:avLst/>
          </a:prstGeom>
          <a:solidFill>
            <a:srgbClr val="F1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2903220"/>
            <a:ext cx="20116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Georgia"/>
              </a:rPr>
              <a:t>XGBoost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2903220"/>
            <a:ext cx="10972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0.9842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2903220"/>
            <a:ext cx="146304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PSI 0.018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2903220"/>
            <a:ext cx="20116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SHAP compatible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0" y="2903220"/>
            <a:ext cx="3593592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Strong but less stable under shocks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337560"/>
            <a:ext cx="20116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Georgia"/>
              </a:rPr>
              <a:t>Random Forest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3337560"/>
            <a:ext cx="10972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0.9756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3337560"/>
            <a:ext cx="146304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PSI 0.025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3337560"/>
            <a:ext cx="20116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Limited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0" y="3337560"/>
            <a:ext cx="3593592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Good baseline; loses on stability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771900"/>
            <a:ext cx="11091672" cy="434340"/>
          </a:xfrm>
          <a:prstGeom prst="rect">
            <a:avLst/>
          </a:prstGeom>
          <a:solidFill>
            <a:srgbClr val="F1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3771900"/>
            <a:ext cx="20116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Georgia"/>
              </a:rPr>
              <a:t>MLP (Neural)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34640" y="3771900"/>
            <a:ext cx="10972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0.9621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3771900"/>
            <a:ext cx="146304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PSI 0.045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0" y="3771900"/>
            <a:ext cx="20116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Black box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80" y="3771900"/>
            <a:ext cx="3593592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High accuracy; XAI misaligned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206240"/>
            <a:ext cx="20116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Georgia"/>
              </a:rPr>
              <a:t>SVR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4206240"/>
            <a:ext cx="10972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0.9398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4206240"/>
            <a:ext cx="146304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PSI 0.062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720" y="4206240"/>
            <a:ext cx="20116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Limited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80" y="4206240"/>
            <a:ext cx="3593592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Fails outlier resilience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640580"/>
            <a:ext cx="11091672" cy="434340"/>
          </a:xfrm>
          <a:prstGeom prst="rect">
            <a:avLst/>
          </a:prstGeom>
          <a:solidFill>
            <a:srgbClr val="F1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0080" y="4640580"/>
            <a:ext cx="20116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Georgia"/>
              </a:rPr>
              <a:t>Lars Regression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34640" y="4640580"/>
            <a:ext cx="10972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0.8921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0" y="4640580"/>
            <a:ext cx="146304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PSI 0.091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60720" y="4640580"/>
            <a:ext cx="20116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Native (linear)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80" y="4640580"/>
            <a:ext cx="3593592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Linear baseline anchor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5074920"/>
            <a:ext cx="20116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Georgia"/>
              </a:rPr>
              <a:t>Decision Tree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34640" y="5074920"/>
            <a:ext cx="10972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0.8543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0" y="5074920"/>
            <a:ext cx="146304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PSI 0.108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60720" y="5074920"/>
            <a:ext cx="20116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Native (rules)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55280" y="5074920"/>
            <a:ext cx="3593592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Interpretive anchor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509260"/>
            <a:ext cx="11091672" cy="434340"/>
          </a:xfrm>
          <a:prstGeom prst="rect">
            <a:avLst/>
          </a:prstGeom>
          <a:solidFill>
            <a:srgbClr val="F1E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40080" y="5509260"/>
            <a:ext cx="20116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Georgia"/>
              </a:rPr>
              <a:t>KNN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34640" y="5509260"/>
            <a:ext cx="10972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0.8124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0" y="5509260"/>
            <a:ext cx="146304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PSI 0.135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60720" y="5509260"/>
            <a:ext cx="2011680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Limited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80" y="5509260"/>
            <a:ext cx="3593592" cy="4343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A4F"/>
                </a:solidFill>
                <a:latin typeface="Calibri"/>
              </a:rPr>
              <a:t>Fails accuracy threshold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" y="6080760"/>
            <a:ext cx="11091672" cy="45720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31520" y="6080760"/>
            <a:ext cx="10725912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1">
                <a:solidFill>
                  <a:srgbClr val="E6C97A"/>
                </a:solidFill>
                <a:latin typeface="Georgia"/>
              </a:rPr>
              <a:t>8 algorithms · 4 criteria · HGBRg satisfies all four — selection is data-driven, not preference.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32 /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r>
              <a:rPr sz="1300" b="1">
                <a:solidFill>
                  <a:srgbClr val="C9A14A"/>
                </a:solidFill>
                <a:latin typeface="Calibri"/>
              </a:rPr>
              <a:t>PART 9  ·  CLARIFICATION  ·  C·3 GOVERNANCE CAUSALITY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Governance — Correlation or Causation?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Three independent evidence streams converge on causation — not coincidence.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67665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91440" cy="11887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31520" y="2286000"/>
            <a:ext cx="411480" cy="411480"/>
          </a:xfrm>
          <a:prstGeom prst="ellipse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11480" cy="41148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E6C97A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67712"/>
            <a:ext cx="44805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ABLATION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560320"/>
            <a:ext cx="4480560" cy="6858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F4D6B"/>
                </a:solidFill>
                <a:latin typeface="Calibri"/>
              </a:rPr>
              <a:t>Stepwise ablation (thesis §4.3): removing the lowest-ranked 25% of features yields a 2-3% R² loss — confirming distributed predictive structure.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7880" y="2468880"/>
            <a:ext cx="1280160" cy="502920"/>
          </a:xfrm>
          <a:prstGeom prst="rect">
            <a:avLst/>
          </a:prstGeom>
          <a:solidFill>
            <a:srgbClr val="F7F2E8"/>
          </a:solidFill>
          <a:ln w="12700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97880" y="2468880"/>
            <a:ext cx="128016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−2-3% R²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383280"/>
            <a:ext cx="67665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3383280"/>
            <a:ext cx="91440" cy="11887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3566160"/>
            <a:ext cx="411480" cy="411480"/>
          </a:xfrm>
          <a:prstGeom prst="ellipse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411480" cy="41148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E6C97A"/>
                </a:solidFill>
                <a:latin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547872"/>
            <a:ext cx="44805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TEMPORAL PRIORITY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840480"/>
            <a:ext cx="4480560" cy="6858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F4D6B"/>
                </a:solidFill>
                <a:latin typeface="Calibri"/>
              </a:rPr>
              <a:t>Regulatory shocks (zoning changes, governance shifts) precede price effects in lagged regression.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97880" y="3749040"/>
            <a:ext cx="1280160" cy="502920"/>
          </a:xfrm>
          <a:prstGeom prst="rect">
            <a:avLst/>
          </a:prstGeom>
          <a:solidFill>
            <a:srgbClr val="F7F2E8"/>
          </a:solidFill>
          <a:ln w="12700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897880" y="3749040"/>
            <a:ext cx="128016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Granger p &lt; 0.001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663440"/>
            <a:ext cx="67665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8640" y="4663440"/>
            <a:ext cx="91440" cy="11887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31520" y="4846320"/>
            <a:ext cx="411480" cy="411480"/>
          </a:xfrm>
          <a:prstGeom prst="ellipse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4846320"/>
            <a:ext cx="411480" cy="41148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E6C97A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4828032"/>
            <a:ext cx="44805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EXPERT CONFIRMATION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5120640"/>
            <a:ext cx="4480560" cy="6858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F4D6B"/>
                </a:solidFill>
                <a:latin typeface="Calibri"/>
              </a:rPr>
              <a:t>Independent N=11 panel ranks LR + LS as #1-2 risk drivers — converging on same conclusion.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97880" y="5029200"/>
            <a:ext cx="1280160" cy="502920"/>
          </a:xfrm>
          <a:prstGeom prst="rect">
            <a:avLst/>
          </a:prstGeom>
          <a:solidFill>
            <a:srgbClr val="F7F2E8"/>
          </a:solidFill>
          <a:ln w="12700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897880" y="5029200"/>
            <a:ext cx="128016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ρ = 0.93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98079" y="2103120"/>
            <a:ext cx="4160520" cy="37490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498079" y="2103120"/>
            <a:ext cx="4160520" cy="36576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498079" y="2103120"/>
            <a:ext cx="416052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CAUSAL CHAIN</a:t>
            </a:r>
          </a:p>
        </p:txBody>
      </p:sp>
      <p:sp>
        <p:nvSpPr>
          <p:cNvPr id="35" name="Oval 34"/>
          <p:cNvSpPr/>
          <p:nvPr/>
        </p:nvSpPr>
        <p:spPr>
          <a:xfrm>
            <a:off x="7772399" y="2788920"/>
            <a:ext cx="182880" cy="18288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046719" y="2651760"/>
            <a:ext cx="34290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6C97A"/>
                </a:solidFill>
                <a:latin typeface="Calibri"/>
              </a:rPr>
              <a:t>LEGAL SHOCK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19" y="2898648"/>
            <a:ext cx="34290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FFFFFF"/>
                </a:solidFill>
                <a:latin typeface="Calibri"/>
              </a:rPr>
              <a:t>Zoning / regulatory change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863839" y="3200400"/>
            <a:ext cx="0" cy="91440"/>
          </a:xfrm>
          <a:prstGeom prst="line">
            <a:avLst/>
          </a:prstGeom>
          <a:ln w="25400">
            <a:solidFill>
              <a:srgbClr val="C9A1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7772399" y="3474720"/>
            <a:ext cx="182880" cy="18288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046719" y="3337560"/>
            <a:ext cx="34290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6C97A"/>
                </a:solidFill>
                <a:latin typeface="Calibri"/>
              </a:rPr>
              <a:t>RISK SHIFT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19" y="3584448"/>
            <a:ext cx="34290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FFFFFF"/>
                </a:solidFill>
                <a:latin typeface="Calibri"/>
              </a:rPr>
              <a:t>LR + LS feature values move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863839" y="3886200"/>
            <a:ext cx="0" cy="91440"/>
          </a:xfrm>
          <a:prstGeom prst="line">
            <a:avLst/>
          </a:prstGeom>
          <a:ln w="25400">
            <a:solidFill>
              <a:srgbClr val="C9A1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7772399" y="4160520"/>
            <a:ext cx="182880" cy="18288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046719" y="4023360"/>
            <a:ext cx="34290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6C97A"/>
                </a:solidFill>
                <a:latin typeface="Calibri"/>
              </a:rPr>
              <a:t>TRS UPDATE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19" y="4270248"/>
            <a:ext cx="34290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FFFFFF"/>
                </a:solidFill>
                <a:latin typeface="Calibri"/>
              </a:rPr>
              <a:t>Total Risk Score recomputed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863839" y="4572000"/>
            <a:ext cx="0" cy="91440"/>
          </a:xfrm>
          <a:prstGeom prst="line">
            <a:avLst/>
          </a:prstGeom>
          <a:ln w="25400">
            <a:solidFill>
              <a:srgbClr val="C9A1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7772399" y="4846320"/>
            <a:ext cx="182880" cy="182880"/>
          </a:xfrm>
          <a:prstGeom prst="ellipse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046719" y="4709160"/>
            <a:ext cx="34290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6C97A"/>
                </a:solidFill>
                <a:latin typeface="Calibri"/>
              </a:rPr>
              <a:t>PRICE IMPACT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19" y="4956048"/>
            <a:ext cx="34290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FFFFFF"/>
                </a:solidFill>
                <a:latin typeface="Calibri"/>
              </a:rPr>
              <a:t>Market reflects new TRS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6080760"/>
            <a:ext cx="11091672" cy="45720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31520" y="6080760"/>
            <a:ext cx="10725912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A2A4F"/>
                </a:solidFill>
                <a:latin typeface="Georgia"/>
              </a:rPr>
              <a:t>Three independent paths · same destination · governance causally drives risk — not the other way around.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33 /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r>
              <a:rPr sz="1300" b="1">
                <a:solidFill>
                  <a:srgbClr val="C9A14A"/>
                </a:solidFill>
                <a:latin typeface="Calibri"/>
              </a:rPr>
              <a:t>PART 9  ·  CLARIFICATION  ·  C·4 APPLIED CONTEXTS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r>
              <a:rPr sz="3000" b="1">
                <a:solidFill>
                  <a:srgbClr val="1A2A4F"/>
                </a:solidFill>
                <a:latin typeface="Georgia"/>
              </a:rPr>
              <a:t>Applied Contexts — Stakeholder Use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Three institutional users · pilot study indicates practical relevance.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35763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3576320" cy="10058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3210560" cy="10058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E6C97A"/>
                </a:solidFill>
                <a:latin typeface="Georgia"/>
              </a:rPr>
              <a:t>INSTITUTIONAL
INVESTORS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91840"/>
            <a:ext cx="3027680" cy="12801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Due diligence on real-estate funds. TRS feeds risk-adjusted pricing and portfolio construction decisions.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09160"/>
            <a:ext cx="3027680" cy="457200"/>
          </a:xfrm>
          <a:prstGeom prst="rect">
            <a:avLst/>
          </a:prstGeom>
          <a:solidFill>
            <a:srgbClr val="F7F2E8"/>
          </a:solidFill>
          <a:ln w="12700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709160"/>
            <a:ext cx="302768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62.5% true-positive rate in pilot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07840" y="2103120"/>
            <a:ext cx="35763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07840" y="2103120"/>
            <a:ext cx="3576320" cy="10058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90720" y="2103120"/>
            <a:ext cx="3210560" cy="10058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E6C97A"/>
                </a:solidFill>
                <a:latin typeface="Georgia"/>
              </a:rPr>
              <a:t>FINANCIAL
INSTITUTIONS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2160" y="3291840"/>
            <a:ext cx="3027680" cy="12801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Mortgage collateral valuation. TRS contributes to risk-weighted capital requirements under Basel standards.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2160" y="4709160"/>
            <a:ext cx="3027680" cy="457200"/>
          </a:xfrm>
          <a:prstGeom prst="rect">
            <a:avLst/>
          </a:prstGeom>
          <a:solidFill>
            <a:srgbClr val="F7F2E8"/>
          </a:solidFill>
          <a:ln w="12700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82160" y="4709160"/>
            <a:ext cx="302768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Automated collateral grading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67040" y="2103120"/>
            <a:ext cx="35763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67040" y="2103120"/>
            <a:ext cx="3576320" cy="10058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49920" y="2103120"/>
            <a:ext cx="3210560" cy="10058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E6C97A"/>
                </a:solidFill>
                <a:latin typeface="Georgia"/>
              </a:rPr>
              <a:t>REGULATORS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1360" y="3291840"/>
            <a:ext cx="3027680" cy="12801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300" b="0" i="0">
                <a:solidFill>
                  <a:srgbClr val="1A2A4F"/>
                </a:solidFill>
                <a:latin typeface="Calibri"/>
              </a:rPr>
              <a:t>Construction-fund oversight. Risk-governance audits anchored in TRS — independent of developer self-reporting.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41360" y="4709160"/>
            <a:ext cx="3027680" cy="457200"/>
          </a:xfrm>
          <a:prstGeom prst="rect">
            <a:avLst/>
          </a:prstGeom>
          <a:solidFill>
            <a:srgbClr val="F7F2E8"/>
          </a:solidFill>
          <a:ln w="12700">
            <a:solidFill>
              <a:srgbClr val="C9A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41360" y="4709160"/>
            <a:ext cx="302768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A2A4F"/>
                </a:solidFill>
                <a:latin typeface="Calibri"/>
              </a:rPr>
              <a:t>Audit-ready output format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577840"/>
            <a:ext cx="11091672" cy="9601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577840"/>
            <a:ext cx="182880" cy="9601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5669280"/>
            <a:ext cx="105156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9A14A"/>
                </a:solidFill>
                <a:latin typeface="Calibri"/>
              </a:rPr>
              <a:t>★  PILOT STUDY 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943600"/>
            <a:ext cx="10515600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1">
                <a:solidFill>
                  <a:srgbClr val="E6C97A"/>
                </a:solidFill>
                <a:latin typeface="Georgia"/>
              </a:rPr>
              <a:t>Identified 8 high-risk projects · 5 subsequently failed · true-positive rate = 62.5% — identifying signals consistent with subsequent failure.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34 /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9  ·  CLARIFICATION  ·  C·5 THREE-LAYER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A2A4F"/>
                </a:solidFill>
                <a:latin typeface="Georgia"/>
              </a:rPr>
              <a:t>Why R² = 0.9988? — Three Methodological Layers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3F4D6B"/>
                </a:solidFill>
                <a:latin typeface="Georgia"/>
              </a:rPr>
              <a:t>The reported accuracy is not a single-step computation — it is the product of three sequential filters.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3575304" cy="3749039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3575304" cy="45720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3575304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Calibri"/>
              </a:rPr>
              <a:t>LAYER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3209544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Multicollinearity 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3209544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9A14A"/>
                </a:solidFill>
                <a:latin typeface="Georgia"/>
              </a:rPr>
              <a:t>VIF &lt;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57600"/>
            <a:ext cx="3209544" cy="1508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Variables with high cross-correlation are removed before training. Eliminates redundant signals that artificially inflate explanatory power.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03519"/>
            <a:ext cx="3209544" cy="320040"/>
          </a:xfrm>
          <a:prstGeom prst="rect">
            <a:avLst/>
          </a:prstGeom>
          <a:solidFill>
            <a:srgbClr val="EEE7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5303519"/>
            <a:ext cx="3209544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2E7D55"/>
                </a:solidFill>
                <a:latin typeface="Calibri"/>
              </a:rPr>
              <a:t>✓ Spurious correlation → controlled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6824" y="2011680"/>
            <a:ext cx="3575304" cy="3749039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306824" y="2011680"/>
            <a:ext cx="3575304" cy="45720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06824" y="2011680"/>
            <a:ext cx="3575304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Calibri"/>
              </a:rPr>
              <a:t>LAYER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9704" y="2606040"/>
            <a:ext cx="3209544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Feature Selection (RFE-CV)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9704" y="3154680"/>
            <a:ext cx="3209544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9A14A"/>
                </a:solidFill>
                <a:latin typeface="Georgia"/>
              </a:rPr>
              <a:t>198 → 90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704" y="3657600"/>
            <a:ext cx="3209544" cy="1508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Recursive Feature Elimination with cross-validation retains only features with genuine predictive contribution. Reduces dimensionality without information loss.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9704" y="5303519"/>
            <a:ext cx="3209544" cy="320040"/>
          </a:xfrm>
          <a:prstGeom prst="rect">
            <a:avLst/>
          </a:prstGeom>
          <a:solidFill>
            <a:srgbClr val="EEE7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89704" y="5303519"/>
            <a:ext cx="3209544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2E7D55"/>
                </a:solidFill>
                <a:latin typeface="Calibri"/>
              </a:rPr>
              <a:t>✓ Noise filtered → signal preserved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65008" y="2011680"/>
            <a:ext cx="3575304" cy="3749039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65008" y="2011680"/>
            <a:ext cx="3575304" cy="45720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65008" y="2011680"/>
            <a:ext cx="3575304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Calibri"/>
              </a:rPr>
              <a:t>LAYER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606040"/>
            <a:ext cx="3209544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Nested Cross-Validation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3154680"/>
            <a:ext cx="3209544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9A14A"/>
                </a:solidFill>
                <a:latin typeface="Georgia"/>
              </a:rPr>
              <a:t>10 outer folds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657600"/>
            <a:ext cx="3209544" cy="1508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Outer loop separates training from hyperparameter tuning. Standard k-fold leaks information via tuning; nested CV does not.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47888" y="5303519"/>
            <a:ext cx="3209544" cy="320040"/>
          </a:xfrm>
          <a:prstGeom prst="rect">
            <a:avLst/>
          </a:prstGeom>
          <a:solidFill>
            <a:srgbClr val="EEE7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47888" y="5303519"/>
            <a:ext cx="3209544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2E7D55"/>
                </a:solidFill>
                <a:latin typeface="Calibri"/>
              </a:rPr>
              <a:t>✓ Zero data leakage → honest R²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943600"/>
            <a:ext cx="11091672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5943600"/>
            <a:ext cx="109728" cy="5029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2960" y="5943600"/>
            <a:ext cx="10789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1">
                <a:solidFill>
                  <a:srgbClr val="FFFFFF"/>
                </a:solidFill>
                <a:latin typeface="Georgia"/>
              </a:rPr>
              <a:t>R² = 0.9988 is the outcome of three independent safeguards — not a single optimistic estimate.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35 /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9  ·  CLARIFICATION  ·  C·6 GEOGRAPHIC GENERALIZATION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A2A4F"/>
                </a:solidFill>
                <a:latin typeface="Georgia"/>
              </a:rPr>
              <a:t>Geographic Generalization — Adapting RECIR to New Jurisdictions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3F4D6B"/>
                </a:solidFill>
                <a:latin typeface="Georgia"/>
              </a:rPr>
              <a:t>A structured four-step process: local data substitution, re-calibration, regulatory alignment, and re-validation.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3575304" cy="3749039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3575304" cy="45720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3575304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Calibri"/>
              </a:rPr>
              <a:t>STEP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3209544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Local Data Substitution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3209544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9A14A"/>
                </a:solidFill>
                <a:latin typeface="Georgia"/>
              </a:rPr>
              <a:t>AHS → Local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57600"/>
            <a:ext cx="3209544" cy="1508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Replace AHS/WDI inputs with local equivalents — Spanish Catastro, UK Land Registry, or LATAM cadastral databases. Feature mapping validated by local domain experts.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03519"/>
            <a:ext cx="3209544" cy="320040"/>
          </a:xfrm>
          <a:prstGeom prst="rect">
            <a:avLst/>
          </a:prstGeom>
          <a:solidFill>
            <a:srgbClr val="EEE7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5303519"/>
            <a:ext cx="3209544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2E7D55"/>
                </a:solidFill>
                <a:latin typeface="Calibri"/>
              </a:rPr>
              <a:t>✓ Input layer adapted to local 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6824" y="2011680"/>
            <a:ext cx="3575304" cy="3749039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306824" y="2011680"/>
            <a:ext cx="3575304" cy="45720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06824" y="2011680"/>
            <a:ext cx="3575304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Calibri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9704" y="2606040"/>
            <a:ext cx="3209544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Weight Re-Calibration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9704" y="3154680"/>
            <a:ext cx="3209544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9A14A"/>
                </a:solidFill>
                <a:latin typeface="Georgia"/>
              </a:rPr>
              <a:t>HGBRg Re-Trained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704" y="3657600"/>
            <a:ext cx="3209544" cy="1508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Re-run HGBRg on local dataset with RFE-CV. Governance and location weights will shift to reflect local regulatory structure (e.g., planning law in Spain vs. UK). Reduces dimensionality without information loss.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9704" y="5303519"/>
            <a:ext cx="3209544" cy="320040"/>
          </a:xfrm>
          <a:prstGeom prst="rect">
            <a:avLst/>
          </a:prstGeom>
          <a:solidFill>
            <a:srgbClr val="EEE7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89704" y="5303519"/>
            <a:ext cx="3209544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2E7D55"/>
                </a:solidFill>
                <a:latin typeface="Calibri"/>
              </a:rPr>
              <a:t>✓ Risk weights reflect local market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65008" y="2011680"/>
            <a:ext cx="3575304" cy="3749039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65008" y="2011680"/>
            <a:ext cx="3575304" cy="45720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65008" y="2011680"/>
            <a:ext cx="3575304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C97A"/>
                </a:solidFill>
                <a:latin typeface="Calibri"/>
              </a:rPr>
              <a:t>STEP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606040"/>
            <a:ext cx="3209544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A2A4F"/>
                </a:solidFill>
                <a:latin typeface="Georgia"/>
              </a:rPr>
              <a:t>Regulatory Alignment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3154680"/>
            <a:ext cx="3209544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C9A14A"/>
                </a:solidFill>
                <a:latin typeface="Georgia"/>
              </a:rPr>
              <a:t>GDPR + Local Law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657600"/>
            <a:ext cx="3209544" cy="1508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Map local legal framework to RECIR indices — EU AI Act Art. 13, GDPR for data handling, and jurisdiction-specific zoning/planning statutes. Re-validate EU AI Act compliance.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47888" y="5303519"/>
            <a:ext cx="3209544" cy="320040"/>
          </a:xfrm>
          <a:prstGeom prst="rect">
            <a:avLst/>
          </a:prstGeom>
          <a:solidFill>
            <a:srgbClr val="EEE7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47888" y="5303519"/>
            <a:ext cx="3209544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2E7D55"/>
                </a:solidFill>
                <a:latin typeface="Calibri"/>
              </a:rPr>
              <a:t>✓ Framework legally compliant in new jurisdiction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943600"/>
            <a:ext cx="11091672" cy="50292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5943600"/>
            <a:ext cx="109728" cy="5029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2960" y="5943600"/>
            <a:ext cx="1078992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1">
                <a:solidFill>
                  <a:srgbClr val="FFFFFF"/>
                </a:solidFill>
                <a:latin typeface="Georgia"/>
              </a:rPr>
              <a:t>Geographic generalization is a formal protocol — not a simple parameter swap. Each jurisdiction requires full re-validation (Spearman ρ against local expert panel) before deployment.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36 /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10  ·  CLOSING  ·  FINAL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The RECIR Contribution — In One Sentence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What this thesis adds to the literature, the regulator's toolkit, and the market.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11091672" cy="201168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11091672" cy="9144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731520" cy="7315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>
                <a:solidFill>
                  <a:srgbClr val="C9A14A"/>
                </a:solidFill>
                <a:latin typeface="Georgia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468880"/>
            <a:ext cx="10058400" cy="1417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i="1">
                <a:solidFill>
                  <a:srgbClr val="FFFFFF"/>
                </a:solidFill>
                <a:latin typeface="Georgia"/>
              </a:rPr>
              <a:t>RECIR is among the first real-estate risk frameworks to integrate Law, Economics, and Explainable AI in a unified architecture — designed to support evidentiary transparency, validated on 318,240 records and N=11 senior experts, and operationally aligned with EU AI Act Articles 11, 13, and 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434840"/>
            <a:ext cx="35763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4434840"/>
            <a:ext cx="3576320" cy="9144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617720"/>
            <a:ext cx="32105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ACADEMIC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37760"/>
            <a:ext cx="3210560" cy="5943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1A2A4F"/>
                </a:solidFill>
                <a:latin typeface="Georgia"/>
              </a:rPr>
              <a:t>Integrated L&amp;E + XAI approach in real estate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86400"/>
            <a:ext cx="32105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1">
                <a:solidFill>
                  <a:srgbClr val="1A2A4F"/>
                </a:solidFill>
                <a:latin typeface="Calibri"/>
              </a:rPr>
              <a:t>2 indexed publications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07840" y="4434840"/>
            <a:ext cx="35763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07840" y="4434840"/>
            <a:ext cx="3576320" cy="9144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90720" y="4617720"/>
            <a:ext cx="32105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REGULATORY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0720" y="4937760"/>
            <a:ext cx="3210560" cy="5943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1A2A4F"/>
                </a:solidFill>
                <a:latin typeface="Georgia"/>
              </a:rPr>
              <a:t>Aligned-by-design with relevant EU AI Act articles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0720" y="5486400"/>
            <a:ext cx="32105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1">
                <a:solidFill>
                  <a:srgbClr val="1A2A4F"/>
                </a:solidFill>
                <a:latin typeface="Calibri"/>
              </a:rPr>
              <a:t>Art. 11 · 13 · 14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67040" y="4434840"/>
            <a:ext cx="35763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67040" y="4434840"/>
            <a:ext cx="3576320" cy="9144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49920" y="4617720"/>
            <a:ext cx="32105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MARKET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9920" y="4937760"/>
            <a:ext cx="3210560" cy="5943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1A2A4F"/>
                </a:solidFill>
                <a:latin typeface="Georgia"/>
              </a:rPr>
              <a:t>Pilot study — true-positive rate observed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9920" y="5486400"/>
            <a:ext cx="32105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1">
                <a:solidFill>
                  <a:srgbClr val="1A2A4F"/>
                </a:solidFill>
                <a:latin typeface="Calibri"/>
              </a:rPr>
              <a:t>62.5% pilot accuracy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080760"/>
            <a:ext cx="11091672" cy="45720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31520" y="6080760"/>
            <a:ext cx="10725912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300" b="1" i="1">
                <a:solidFill>
                  <a:srgbClr val="1A2A4F"/>
                </a:solidFill>
                <a:latin typeface="Georgia"/>
              </a:rPr>
              <a:t>Explainability does not eliminate epistemic uncertainty — but it materially improves transparency, auditability, and human oversight.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37 /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10  ·  SUMMARY  ·  RECIR FRAMEWORK 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85800"/>
            <a:ext cx="11091672" cy="5943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1A2A4F"/>
                </a:solidFill>
                <a:latin typeface="Georgia"/>
              </a:rPr>
              <a:t>Bridging Law, Economics, and Technology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5440680" cy="36576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544068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E6C97A"/>
                </a:solidFill>
                <a:latin typeface="Calibri"/>
              </a:rPr>
              <a:t>THE TRANSFORMATION PIPELINE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544068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1965960"/>
            <a:ext cx="91440" cy="9601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011680"/>
            <a:ext cx="594360" cy="86868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1A2A4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103120"/>
            <a:ext cx="4572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2A4F"/>
                </a:solidFill>
                <a:latin typeface="Georgia"/>
              </a:rPr>
              <a:t>Multi-Dimensional Data Ingestion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468880"/>
            <a:ext cx="457200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318,240 records · housing surveys + global macro indicators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71800"/>
            <a:ext cx="544068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2971800"/>
            <a:ext cx="91440" cy="9601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3017520"/>
            <a:ext cx="594360" cy="86868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1A2A4F"/>
                </a:solidFill>
                <a:latin typeface="Georgia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108960"/>
            <a:ext cx="4572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2A4F"/>
                </a:solidFill>
                <a:latin typeface="Georgia"/>
              </a:rPr>
              <a:t>HGBRg Engine — R² = 0.9988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474720"/>
            <a:ext cx="457200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Histogram Gradient Boosting captures non-linear market dynamics → TRS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77640"/>
            <a:ext cx="544068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3977640"/>
            <a:ext cx="91440" cy="9601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023360"/>
            <a:ext cx="594360" cy="86868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1A2A4F"/>
                </a:solidFill>
                <a:latin typeface="Georgia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114800"/>
            <a:ext cx="4572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2A4F"/>
                </a:solidFill>
                <a:latin typeface="Georgia"/>
              </a:rPr>
              <a:t>XAI Layer &amp; Legal Admissibility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480560"/>
            <a:ext cx="457200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SHAP + Permutation Importance — scores auditable and traceable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983480"/>
            <a:ext cx="544068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8640" y="4983480"/>
            <a:ext cx="91440" cy="9601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20" y="5029200"/>
            <a:ext cx="594360" cy="86868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1A2A4F"/>
                </a:solidFill>
                <a:latin typeface="Georgia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120640"/>
            <a:ext cx="4572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2A4F"/>
                </a:solidFill>
                <a:latin typeface="Georgia"/>
              </a:rPr>
              <a:t>Compliance-by-Design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5486400"/>
            <a:ext cx="4572000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Legal/Regulatory + Spatial = 47.7% of total predictive weight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9632" y="1508760"/>
            <a:ext cx="5440680" cy="36576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99632" y="1508760"/>
            <a:ext cx="544068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E6C97A"/>
                </a:solidFill>
                <a:latin typeface="Calibri"/>
              </a:rPr>
              <a:t>CORE CONTRIBUTIONS &amp; GOVERNANCE FINDINGS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9632" y="1965960"/>
            <a:ext cx="54406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199632" y="1965960"/>
            <a:ext cx="91440" cy="86868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82512" y="2011680"/>
            <a:ext cx="457200" cy="7772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1A2A4F"/>
                </a:solidFill>
                <a:latin typeface="Georgia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76872" y="2103120"/>
            <a:ext cx="4572000" cy="320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2A4F"/>
                </a:solidFill>
                <a:latin typeface="Georgia"/>
              </a:rPr>
              <a:t>Governance is the Dominant Risk Signal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76872" y="2423160"/>
            <a:ext cx="4572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Legal + Location variables = 47.7% of total predictive weight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2880360"/>
            <a:ext cx="54406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199632" y="2880360"/>
            <a:ext cx="91440" cy="86868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82512" y="2926080"/>
            <a:ext cx="457200" cy="7772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1A2A4F"/>
                </a:solidFill>
                <a:latin typeface="Georgia"/>
              </a:rPr>
              <a:t>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76872" y="3017520"/>
            <a:ext cx="4572000" cy="320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2A4F"/>
                </a:solidFill>
                <a:latin typeface="Georgia"/>
              </a:rPr>
              <a:t>SRME Visual Verification — 98.75%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76872" y="3337560"/>
            <a:ext cx="4572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3F4D6B"/>
                </a:solidFill>
                <a:latin typeface="Calibri"/>
              </a:rPr>
              <a:t>Computer vision closes the trust gap on physical reality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9632" y="3840480"/>
            <a:ext cx="5440680" cy="658368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336792" y="3867912"/>
            <a:ext cx="51663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1">
                <a:solidFill>
                  <a:srgbClr val="E6C97A"/>
                </a:solidFill>
                <a:latin typeface="Georgia"/>
              </a:rPr>
              <a:t>“The market fails due to lack of legally admissible intelligence.”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6792" y="4187952"/>
            <a:ext cx="51663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1">
                <a:solidFill>
                  <a:srgbClr val="FFFFFF"/>
                </a:solidFill>
                <a:latin typeface="Calibri"/>
              </a:rPr>
              <a:t>RECIR shifts real estate from reactive compliance to proactive fiduciary duty.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9632" y="4572000"/>
            <a:ext cx="544068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C9A14A"/>
                </a:solidFill>
                <a:latin typeface="Calibri"/>
              </a:rPr>
              <a:t>BENCHMARK  ·  RECIR vs. TRADITIONAL &amp; BLACK-BOX AI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99632" y="4892040"/>
            <a:ext cx="5440680" cy="329184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982712" y="4892040"/>
            <a:ext cx="1219200" cy="32918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E6C97A"/>
                </a:solidFill>
                <a:latin typeface="Calibri"/>
              </a:rPr>
              <a:t>Traditional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1912" y="4892040"/>
            <a:ext cx="1219200" cy="32918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E6C97A"/>
                </a:solidFill>
                <a:latin typeface="Calibri"/>
              </a:rPr>
              <a:t>Black-Box 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21112" y="4892040"/>
            <a:ext cx="1219200" cy="32918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E6C97A"/>
                </a:solidFill>
                <a:latin typeface="Calibri"/>
              </a:rPr>
              <a:t>RECIR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99632" y="5221224"/>
            <a:ext cx="5440680" cy="329184"/>
          </a:xfrm>
          <a:prstGeom prst="rect">
            <a:avLst/>
          </a:prstGeom>
          <a:solidFill>
            <a:srgbClr val="F7F2E8"/>
          </a:solidFill>
          <a:ln w="317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199632" y="5221224"/>
            <a:ext cx="1783080" cy="32918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A2A4F"/>
                </a:solidFill>
                <a:latin typeface="Calibri"/>
              </a:rPr>
              <a:t>Accuracy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82712" y="5221224"/>
            <a:ext cx="1219200" cy="32918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3F4D6B"/>
                </a:solidFill>
                <a:latin typeface="Calibri"/>
              </a:rPr>
              <a:t>~0.60 R²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01912" y="5221224"/>
            <a:ext cx="1219200" cy="32918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3F4D6B"/>
                </a:solidFill>
                <a:latin typeface="Calibri"/>
              </a:rPr>
              <a:t>Very High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21112" y="5221224"/>
            <a:ext cx="1219200" cy="32918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A2A4F"/>
                </a:solidFill>
                <a:latin typeface="Calibri"/>
              </a:rPr>
              <a:t>0.9988 R²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99632" y="5550408"/>
            <a:ext cx="544068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199632" y="5550408"/>
            <a:ext cx="1783080" cy="32918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A2A4F"/>
                </a:solidFill>
                <a:latin typeface="Calibri"/>
              </a:rPr>
              <a:t>Legal Integration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82712" y="5550408"/>
            <a:ext cx="1219200" cy="32918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3F4D6B"/>
                </a:solidFill>
                <a:latin typeface="Calibri"/>
              </a:rPr>
              <a:t>Ignored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01912" y="5550408"/>
            <a:ext cx="1219200" cy="32918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3F4D6B"/>
                </a:solidFill>
                <a:latin typeface="Calibri"/>
              </a:rPr>
              <a:t>Opaque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21112" y="5550408"/>
            <a:ext cx="1219200" cy="32918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A2A4F"/>
                </a:solidFill>
                <a:latin typeface="Calibri"/>
              </a:rPr>
              <a:t>Core Embedded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99632" y="5879592"/>
            <a:ext cx="5440680" cy="329184"/>
          </a:xfrm>
          <a:prstGeom prst="rect">
            <a:avLst/>
          </a:prstGeom>
          <a:solidFill>
            <a:srgbClr val="F7F2E8"/>
          </a:solidFill>
          <a:ln w="3175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199632" y="5879592"/>
            <a:ext cx="1783080" cy="32918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A2A4F"/>
                </a:solidFill>
                <a:latin typeface="Calibri"/>
              </a:rPr>
              <a:t>EU AI Act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82712" y="5879592"/>
            <a:ext cx="1219200" cy="32918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3F4D6B"/>
                </a:solidFill>
                <a:latin typeface="Calibri"/>
              </a:rPr>
              <a:t>Manual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01912" y="5879592"/>
            <a:ext cx="1219200" cy="32918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3F4D6B"/>
                </a:solidFill>
                <a:latin typeface="Calibri"/>
              </a:rPr>
              <a:t>Misaligned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21112" y="5879592"/>
            <a:ext cx="1219200" cy="32918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A2A4F"/>
                </a:solidFill>
                <a:latin typeface="Calibri"/>
              </a:rPr>
              <a:t>Aligned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8640" y="6263640"/>
            <a:ext cx="11091672" cy="384048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31520" y="6263640"/>
            <a:ext cx="10725912" cy="38404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1">
                <a:solidFill>
                  <a:srgbClr val="1A2A4F"/>
                </a:solidFill>
                <a:latin typeface="Georgia"/>
              </a:rPr>
              <a:t>★  RECIR — Bridging Law, Economics, and Technology in a single auditable framework.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38 /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10  ·  PERSONAL 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5943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>
                <a:solidFill>
                  <a:srgbClr val="1A2A4F"/>
                </a:solidFill>
                <a:latin typeface="Georgia"/>
              </a:rPr>
              <a:t>A Personal Reflection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Honoured Members of the Committee — allow me a few personal words.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11091672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91440" cy="132588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1078992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WHERE THIS RESEARCH BEGAN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10789920" cy="8229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A2A4F"/>
                </a:solidFill>
                <a:latin typeface="Calibri"/>
              </a:rPr>
              <a:t>As a practising attorney specialising in real-estate law, I witnessed first-hand how legal and regulatory factors consistently determined investment outcomes — yet were systematically excluded from the quantitative models the industry relied upon.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29000"/>
            <a:ext cx="11091672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3429000"/>
            <a:ext cx="91440" cy="132588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1078992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WHAT THIS RESEARCH CONTRIBUTES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86200"/>
            <a:ext cx="10789920" cy="8229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A2A4F"/>
                </a:solidFill>
                <a:latin typeface="Calibri"/>
              </a:rPr>
              <a:t>RECIR is among the first real-estate risk frameworks to unify Law, Economics, and Explainable AI in a single, designed to support evidentiary transparency architecture — demonstrating that accuracy and transparency are not in conflict.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846320"/>
            <a:ext cx="11091672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91440" cy="132588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983480"/>
            <a:ext cx="1078992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WHAT THIS WORK MEANS TO 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303520"/>
            <a:ext cx="10789920" cy="8229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A2A4F"/>
                </a:solidFill>
                <a:latin typeface="Calibri"/>
              </a:rPr>
              <a:t>Each page of this thesis carries the contribution of mentors, family, and colleagues. I leave this defense not at the end of a journey, but at the beginning.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172200"/>
            <a:ext cx="11091672" cy="41148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6172200"/>
            <a:ext cx="10725912" cy="41148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1">
                <a:solidFill>
                  <a:srgbClr val="1A2A4F"/>
                </a:solidFill>
                <a:latin typeface="Georgia"/>
              </a:rPr>
              <a:t>Thank you for the time, attention, and scholarly engagement extended to this work.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A2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0" y="22860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6E788E"/>
                </a:solidFill>
                <a:latin typeface="Calibri"/>
              </a:rPr>
              <a:t>39 /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PART 10  ·  CLOSING  ·  ACKNOWLEDGMENTS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167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1A2A4F"/>
                </a:solidFill>
                <a:latin typeface="Georgia"/>
              </a:rPr>
              <a:t>Acknowledgments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3F4D6B"/>
                </a:solidFill>
                <a:latin typeface="Georgia"/>
              </a:rPr>
              <a:t>With sincere gratitude to those who shaped this research.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194560"/>
            <a:ext cx="9445752" cy="320040"/>
          </a:xfrm>
          <a:prstGeom prst="rect">
            <a:avLst/>
          </a:prstGeom>
          <a:noFill/>
        </p:spPr>
        <p:txBody>
          <a:bodyPr wrap="square" lIns="54864" rIns="54864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TO MY DOCTORAL SUPERVISORS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578608"/>
            <a:ext cx="9445752" cy="502920"/>
          </a:xfrm>
          <a:prstGeom prst="rect">
            <a:avLst/>
          </a:prstGeom>
          <a:noFill/>
        </p:spPr>
        <p:txBody>
          <a:bodyPr wrap="square" lIns="54864" rIns="54864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1">
                <a:solidFill>
                  <a:srgbClr val="1A2A4F"/>
                </a:solidFill>
                <a:latin typeface="Georgia"/>
              </a:rPr>
              <a:t>Prof. Nuria Ceular Villamandos</a:t>
            </a:r>
          </a:p>
          <a:p>
            <a:pPr algn="ctr">
              <a:lnSpc>
                <a:spcPct val="135000"/>
              </a:lnSpc>
            </a:pPr>
            <a:r>
              <a:rPr sz="1300" b="1">
                <a:solidFill>
                  <a:srgbClr val="1A2A4F"/>
                </a:solidFill>
                <a:latin typeface="Georgia"/>
              </a:rPr>
              <a:t>Prof. Lorena Caridad López del Río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0" y="3611880"/>
            <a:ext cx="2130552" cy="0"/>
          </a:xfrm>
          <a:prstGeom prst="line">
            <a:avLst/>
          </a:prstGeom>
          <a:ln w="12700">
            <a:solidFill>
              <a:srgbClr val="C9A1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371600" y="3749040"/>
            <a:ext cx="9445752" cy="320040"/>
          </a:xfrm>
          <a:prstGeom prst="rect">
            <a:avLst/>
          </a:prstGeom>
          <a:noFill/>
        </p:spPr>
        <p:txBody>
          <a:bodyPr wrap="square" lIns="54864" rIns="54864" anchor="t">
            <a:spAutoFit/>
          </a:bodyPr>
          <a:lstStyle/>
          <a:p>
            <a:pPr algn="ctr"/>
            <a:r>
              <a:rPr sz="1300" b="1">
                <a:solidFill>
                  <a:srgbClr val="C9A14A"/>
                </a:solidFill>
                <a:latin typeface="Calibri"/>
              </a:rPr>
              <a:t>TO THE DOCTORAL DEFENSE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133088"/>
            <a:ext cx="9445752" cy="365760"/>
          </a:xfrm>
          <a:prstGeom prst="rect">
            <a:avLst/>
          </a:prstGeom>
          <a:noFill/>
        </p:spPr>
        <p:txBody>
          <a:bodyPr wrap="square" lIns="54864" rIns="54864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1">
                <a:solidFill>
                  <a:srgbClr val="3F4D6B"/>
                </a:solidFill>
                <a:latin typeface="Georgia"/>
              </a:rPr>
              <a:t>For the time, attention, and scholarly engagement extended to this research.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29200" y="4663440"/>
            <a:ext cx="2130552" cy="0"/>
          </a:xfrm>
          <a:prstGeom prst="line">
            <a:avLst/>
          </a:prstGeom>
          <a:ln w="12700">
            <a:solidFill>
              <a:srgbClr val="C9A1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371600" y="4800600"/>
            <a:ext cx="9445752" cy="320040"/>
          </a:xfrm>
          <a:prstGeom prst="rect">
            <a:avLst/>
          </a:prstGeom>
          <a:noFill/>
        </p:spPr>
        <p:txBody>
          <a:bodyPr wrap="square" lIns="54864" rIns="54864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TO THE EXPERT PANEL, COLLEAGUES, AND FAMILY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184648"/>
            <a:ext cx="9445752" cy="365760"/>
          </a:xfrm>
          <a:prstGeom prst="rect">
            <a:avLst/>
          </a:prstGeom>
          <a:noFill/>
        </p:spPr>
        <p:txBody>
          <a:bodyPr wrap="square" lIns="54864" rIns="54864" anchor="t">
            <a:spAutoFit/>
          </a:bodyPr>
          <a:lstStyle/>
          <a:p>
            <a:pPr algn="ctr"/>
            <a:r>
              <a:rPr sz="1300" b="1">
                <a:solidFill>
                  <a:srgbClr val="1A2A4F"/>
                </a:solidFill>
                <a:latin typeface="Georgia"/>
              </a:rPr>
              <a:t>N = 142 study participants  ·  N = 11 senior investors  ·  family, colleagues, mentors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577840"/>
            <a:ext cx="9445752" cy="365760"/>
          </a:xfrm>
          <a:prstGeom prst="rect">
            <a:avLst/>
          </a:prstGeom>
          <a:noFill/>
        </p:spPr>
        <p:txBody>
          <a:bodyPr wrap="square" lIns="54864" rIns="54864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3F4D6B"/>
                </a:solidFill>
                <a:latin typeface="Georgia"/>
              </a:rPr>
              <a:t>For empirical validation, professional support, and personal encouragement.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989320"/>
            <a:ext cx="10725912" cy="502920"/>
          </a:xfrm>
          <a:prstGeom prst="rect">
            <a:avLst/>
          </a:prstGeom>
          <a:noFill/>
        </p:spPr>
        <p:txBody>
          <a:bodyPr wrap="square" lIns="54864" rIns="54864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1">
                <a:solidFill>
                  <a:srgbClr val="1A2A4F"/>
                </a:solidFill>
                <a:latin typeface="Georgia"/>
              </a:rPr>
              <a:t>Each page of this thesis carries the contribution, generosity, and trust of those named above.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C9A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5087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C9A14A"/>
                </a:solidFill>
                <a:latin typeface="Calibri"/>
              </a:rPr>
              <a:t>40 /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DOCTORAL DEFENSE  ·  CLOSING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11091672" cy="1463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600" b="1" i="0">
                <a:solidFill>
                  <a:srgbClr val="C9A14A"/>
                </a:solidFill>
                <a:latin typeface="Georgia"/>
              </a:rPr>
              <a:t>GRACIAS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11091672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 i="1">
                <a:solidFill>
                  <a:srgbClr val="E6C97A"/>
                </a:solidFill>
                <a:latin typeface="Georgia"/>
              </a:rPr>
              <a:t>— THANK YOU FOR YOUR TIME AND ATTENTION 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0" y="4160520"/>
            <a:ext cx="2130552" cy="0"/>
          </a:xfrm>
          <a:prstGeom prst="line">
            <a:avLst/>
          </a:prstGeom>
          <a:ln w="25400">
            <a:solidFill>
              <a:srgbClr val="C9A1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4434840"/>
            <a:ext cx="11091672" cy="4114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Georgia"/>
              </a:rPr>
              <a:t>Avraham Lalum, Ph.D.c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92040"/>
            <a:ext cx="11091672" cy="3200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E6C97A"/>
                </a:solidFill>
                <a:latin typeface="Calibri"/>
              </a:rPr>
              <a:t>avraham@lalum.co  ·  www.lalum.co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C9A14A"/>
                </a:solidFill>
                <a:latin typeface="Calibri"/>
              </a:rPr>
              <a:t>QUESTIONS  ·  CLARIFICATIONS  ·  DISCUSSION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72200"/>
            <a:ext cx="1109167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E788E"/>
                </a:solidFill>
                <a:latin typeface="Calibri"/>
              </a:rPr>
              <a:t>UNIVERSIDAD DE CÓRDOBA  ·  FACULTAD DE DERECHO Y CIENCIAS ECONÓMICAS Y EMPRESARIALES  ·  27 MAY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5450</Words>
  <Application>Microsoft Office PowerPoint</Application>
  <PresentationFormat>מסך רחב</PresentationFormat>
  <Paragraphs>936</Paragraphs>
  <Slides>39</Slides>
  <Notes>1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39</vt:i4>
      </vt:variant>
    </vt:vector>
  </HeadingPairs>
  <TitlesOfParts>
    <vt:vector size="44" baseType="lpstr">
      <vt:lpstr>Aptos</vt:lpstr>
      <vt:lpstr>Arial</vt:lpstr>
      <vt:lpstr>Calibri</vt:lpstr>
      <vt:lpstr>Georgia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אברהם ללום</dc:creator>
  <cp:keywords/>
  <dc:description>generated using python-pptx</dc:description>
  <cp:lastModifiedBy>אברהם ללום</cp:lastModifiedBy>
  <cp:revision>1</cp:revision>
  <dcterms:created xsi:type="dcterms:W3CDTF">2013-01-27T09:14:16Z</dcterms:created>
  <dcterms:modified xsi:type="dcterms:W3CDTF">2026-05-11T13:13:20Z</dcterms:modified>
  <cp:category/>
</cp:coreProperties>
</file>